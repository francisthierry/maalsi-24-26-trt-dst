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33"/>
  </p:notesMasterIdLst>
  <p:handoutMasterIdLst>
    <p:handoutMasterId r:id="rId34"/>
  </p:handoutMasterIdLst>
  <p:sldIdLst>
    <p:sldId id="256" r:id="rId4"/>
    <p:sldId id="257" r:id="rId5"/>
    <p:sldId id="258" r:id="rId6"/>
    <p:sldId id="282" r:id="rId7"/>
    <p:sldId id="283" r:id="rId8"/>
    <p:sldId id="284" r:id="rId9"/>
    <p:sldId id="259" r:id="rId10"/>
    <p:sldId id="260" r:id="rId11"/>
    <p:sldId id="261" r:id="rId12"/>
    <p:sldId id="262" r:id="rId13"/>
    <p:sldId id="263" r:id="rId14"/>
    <p:sldId id="264" r:id="rId15"/>
    <p:sldId id="265" r:id="rId16"/>
    <p:sldId id="281"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C4C24E-2F25-4868-B6CD-E318BB19FF15}" v="13" dt="2024-11-04T07:40:01.959"/>
  </p1510:revLst>
</p1510:revInfo>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574" autoAdjust="0"/>
  </p:normalViewPr>
  <p:slideViewPr>
    <p:cSldViewPr snapToGrid="0">
      <p:cViewPr varScale="1">
        <p:scale>
          <a:sx n="79" d="100"/>
          <a:sy n="79" d="100"/>
        </p:scale>
        <p:origin x="773" y="6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90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6/11/relationships/changesInfo" Target="changesInfos/changesInfo1.xml"/><Relationship Id="rId21" Type="http://schemas.openxmlformats.org/officeDocument/2006/relationships/slide" Target="slides/slide18.xml"/><Relationship Id="rId34"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erry Boulanger" userId="94a688e0fac7af5a" providerId="LiveId" clId="{8AC4C24E-2F25-4868-B6CD-E318BB19FF15}"/>
    <pc:docChg chg="undo custSel addSld modSld">
      <pc:chgData name="Thierry Boulanger" userId="94a688e0fac7af5a" providerId="LiveId" clId="{8AC4C24E-2F25-4868-B6CD-E318BB19FF15}" dt="2024-11-04T08:09:16.532" v="179" actId="404"/>
      <pc:docMkLst>
        <pc:docMk/>
      </pc:docMkLst>
      <pc:sldChg chg="modSp mod">
        <pc:chgData name="Thierry Boulanger" userId="94a688e0fac7af5a" providerId="LiveId" clId="{8AC4C24E-2F25-4868-B6CD-E318BB19FF15}" dt="2024-11-04T08:09:16.532" v="179" actId="404"/>
        <pc:sldMkLst>
          <pc:docMk/>
          <pc:sldMk cId="1359066757" sldId="256"/>
        </pc:sldMkLst>
        <pc:spChg chg="mod">
          <ac:chgData name="Thierry Boulanger" userId="94a688e0fac7af5a" providerId="LiveId" clId="{8AC4C24E-2F25-4868-B6CD-E318BB19FF15}" dt="2024-11-04T08:09:16.532" v="179" actId="404"/>
          <ac:spMkLst>
            <pc:docMk/>
            <pc:sldMk cId="1359066757" sldId="256"/>
            <ac:spMk id="10" creationId="{266D1C70-1885-5DE5-33E5-2DFCB01F325A}"/>
          </ac:spMkLst>
        </pc:spChg>
      </pc:sldChg>
      <pc:sldChg chg="addSp delSp modSp mod modClrScheme chgLayout">
        <pc:chgData name="Thierry Boulanger" userId="94a688e0fac7af5a" providerId="LiveId" clId="{8AC4C24E-2F25-4868-B6CD-E318BB19FF15}" dt="2024-11-03T20:11:11.856" v="77" actId="26606"/>
        <pc:sldMkLst>
          <pc:docMk/>
          <pc:sldMk cId="1358094761" sldId="261"/>
        </pc:sldMkLst>
        <pc:spChg chg="mod ord">
          <ac:chgData name="Thierry Boulanger" userId="94a688e0fac7af5a" providerId="LiveId" clId="{8AC4C24E-2F25-4868-B6CD-E318BB19FF15}" dt="2024-11-03T20:11:11.856" v="77" actId="26606"/>
          <ac:spMkLst>
            <pc:docMk/>
            <pc:sldMk cId="1358094761" sldId="261"/>
            <ac:spMk id="3" creationId="{4BFD771C-B5F5-6046-3187-453C364EA4FC}"/>
          </ac:spMkLst>
        </pc:spChg>
        <pc:spChg chg="mod ord">
          <ac:chgData name="Thierry Boulanger" userId="94a688e0fac7af5a" providerId="LiveId" clId="{8AC4C24E-2F25-4868-B6CD-E318BB19FF15}" dt="2024-11-03T20:11:11.856" v="77" actId="26606"/>
          <ac:spMkLst>
            <pc:docMk/>
            <pc:sldMk cId="1358094761" sldId="261"/>
            <ac:spMk id="5" creationId="{8A636999-4981-97AB-B93B-AE2CBE6137A7}"/>
          </ac:spMkLst>
        </pc:spChg>
        <pc:spChg chg="mod">
          <ac:chgData name="Thierry Boulanger" userId="94a688e0fac7af5a" providerId="LiveId" clId="{8AC4C24E-2F25-4868-B6CD-E318BB19FF15}" dt="2024-11-03T20:11:11.856" v="77" actId="26606"/>
          <ac:spMkLst>
            <pc:docMk/>
            <pc:sldMk cId="1358094761" sldId="261"/>
            <ac:spMk id="6" creationId="{66DAE5F1-426D-7AAE-81C0-65AD85ED9EB2}"/>
          </ac:spMkLst>
        </pc:spChg>
        <pc:spChg chg="mod">
          <ac:chgData name="Thierry Boulanger" userId="94a688e0fac7af5a" providerId="LiveId" clId="{8AC4C24E-2F25-4868-B6CD-E318BB19FF15}" dt="2024-11-03T20:11:11.856" v="77" actId="26606"/>
          <ac:spMkLst>
            <pc:docMk/>
            <pc:sldMk cId="1358094761" sldId="261"/>
            <ac:spMk id="7" creationId="{A6883BAE-B9AB-548D-4B2E-501D613A8CE4}"/>
          </ac:spMkLst>
        </pc:spChg>
        <pc:spChg chg="del">
          <ac:chgData name="Thierry Boulanger" userId="94a688e0fac7af5a" providerId="LiveId" clId="{8AC4C24E-2F25-4868-B6CD-E318BB19FF15}" dt="2024-11-03T20:11:11.856" v="77" actId="26606"/>
          <ac:spMkLst>
            <pc:docMk/>
            <pc:sldMk cId="1358094761" sldId="261"/>
            <ac:spMk id="12" creationId="{97FC3A68-FC9C-F4BF-5D65-7A590F54EC3B}"/>
          </ac:spMkLst>
        </pc:spChg>
        <pc:spChg chg="del">
          <ac:chgData name="Thierry Boulanger" userId="94a688e0fac7af5a" providerId="LiveId" clId="{8AC4C24E-2F25-4868-B6CD-E318BB19FF15}" dt="2024-11-03T20:11:11.856" v="77" actId="26606"/>
          <ac:spMkLst>
            <pc:docMk/>
            <pc:sldMk cId="1358094761" sldId="261"/>
            <ac:spMk id="14" creationId="{FFE1E4F3-158B-9882-9115-D8F94EAB3396}"/>
          </ac:spMkLst>
        </pc:spChg>
        <pc:picChg chg="add mod">
          <ac:chgData name="Thierry Boulanger" userId="94a688e0fac7af5a" providerId="LiveId" clId="{8AC4C24E-2F25-4868-B6CD-E318BB19FF15}" dt="2024-11-03T20:11:11.856" v="77" actId="26606"/>
          <ac:picMkLst>
            <pc:docMk/>
            <pc:sldMk cId="1358094761" sldId="261"/>
            <ac:picMk id="2" creationId="{93B15F70-10DC-A0BB-3EA4-E92CD9604A11}"/>
          </ac:picMkLst>
        </pc:picChg>
      </pc:sldChg>
      <pc:sldChg chg="addSp delSp modSp new mod modClrScheme chgLayout">
        <pc:chgData name="Thierry Boulanger" userId="94a688e0fac7af5a" providerId="LiveId" clId="{8AC4C24E-2F25-4868-B6CD-E318BB19FF15}" dt="2024-11-03T16:22:41.950" v="75" actId="20577"/>
        <pc:sldMkLst>
          <pc:docMk/>
          <pc:sldMk cId="325767662" sldId="281"/>
        </pc:sldMkLst>
        <pc:spChg chg="mod">
          <ac:chgData name="Thierry Boulanger" userId="94a688e0fac7af5a" providerId="LiveId" clId="{8AC4C24E-2F25-4868-B6CD-E318BB19FF15}" dt="2024-11-03T16:22:41.950" v="75" actId="20577"/>
          <ac:spMkLst>
            <pc:docMk/>
            <pc:sldMk cId="325767662" sldId="281"/>
            <ac:spMk id="2" creationId="{F869C982-7B9D-2598-C0C2-DBBE223EC413}"/>
          </ac:spMkLst>
        </pc:spChg>
        <pc:spChg chg="add del">
          <ac:chgData name="Thierry Boulanger" userId="94a688e0fac7af5a" providerId="LiveId" clId="{8AC4C24E-2F25-4868-B6CD-E318BB19FF15}" dt="2024-11-03T16:21:50.993" v="69" actId="26606"/>
          <ac:spMkLst>
            <pc:docMk/>
            <pc:sldMk cId="325767662" sldId="281"/>
            <ac:spMk id="3" creationId="{1E7A11BF-AD05-001B-5189-5ED2D429BD16}"/>
          </ac:spMkLst>
        </pc:spChg>
        <pc:spChg chg="mod">
          <ac:chgData name="Thierry Boulanger" userId="94a688e0fac7af5a" providerId="LiveId" clId="{8AC4C24E-2F25-4868-B6CD-E318BB19FF15}" dt="2024-11-03T16:22:02.991" v="72" actId="26606"/>
          <ac:spMkLst>
            <pc:docMk/>
            <pc:sldMk cId="325767662" sldId="281"/>
            <ac:spMk id="4" creationId="{B049B1EE-B287-6FB0-1200-A20B88CC180F}"/>
          </ac:spMkLst>
        </pc:spChg>
        <pc:spChg chg="mod">
          <ac:chgData name="Thierry Boulanger" userId="94a688e0fac7af5a" providerId="LiveId" clId="{8AC4C24E-2F25-4868-B6CD-E318BB19FF15}" dt="2024-11-03T16:22:02.991" v="72" actId="26606"/>
          <ac:spMkLst>
            <pc:docMk/>
            <pc:sldMk cId="325767662" sldId="281"/>
            <ac:spMk id="5" creationId="{4204AD39-6795-0B88-C928-C3087F12585E}"/>
          </ac:spMkLst>
        </pc:spChg>
        <pc:spChg chg="add del mod">
          <ac:chgData name="Thierry Boulanger" userId="94a688e0fac7af5a" providerId="LiveId" clId="{8AC4C24E-2F25-4868-B6CD-E318BB19FF15}" dt="2024-11-03T16:21:51.002" v="71"/>
          <ac:spMkLst>
            <pc:docMk/>
            <pc:sldMk cId="325767662" sldId="281"/>
            <ac:spMk id="6" creationId="{FF4D88BA-0A92-A7F1-B3EA-8804D0DE601F}"/>
          </ac:spMkLst>
        </pc:spChg>
        <pc:spChg chg="add del mod">
          <ac:chgData name="Thierry Boulanger" userId="94a688e0fac7af5a" providerId="LiveId" clId="{8AC4C24E-2F25-4868-B6CD-E318BB19FF15}" dt="2024-11-03T16:21:42.036" v="66" actId="26606"/>
          <ac:spMkLst>
            <pc:docMk/>
            <pc:sldMk cId="325767662" sldId="281"/>
            <ac:spMk id="12" creationId="{7992484D-7460-050A-EA60-28832BA1B623}"/>
          </ac:spMkLst>
        </pc:spChg>
        <pc:spChg chg="add del mod">
          <ac:chgData name="Thierry Boulanger" userId="94a688e0fac7af5a" providerId="LiveId" clId="{8AC4C24E-2F25-4868-B6CD-E318BB19FF15}" dt="2024-11-03T16:21:50.969" v="68" actId="26606"/>
          <ac:spMkLst>
            <pc:docMk/>
            <pc:sldMk cId="325767662" sldId="281"/>
            <ac:spMk id="14" creationId="{7992484D-7460-050A-EA60-28832BA1B623}"/>
          </ac:spMkLst>
        </pc:spChg>
        <pc:spChg chg="add del mod">
          <ac:chgData name="Thierry Boulanger" userId="94a688e0fac7af5a" providerId="LiveId" clId="{8AC4C24E-2F25-4868-B6CD-E318BB19FF15}" dt="2024-11-03T16:22:02.991" v="72" actId="26606"/>
          <ac:spMkLst>
            <pc:docMk/>
            <pc:sldMk cId="325767662" sldId="281"/>
            <ac:spMk id="16" creationId="{FB67C096-AE11-B143-7645-E32458FE3A8E}"/>
          </ac:spMkLst>
        </pc:spChg>
        <pc:spChg chg="add del mod">
          <ac:chgData name="Thierry Boulanger" userId="94a688e0fac7af5a" providerId="LiveId" clId="{8AC4C24E-2F25-4868-B6CD-E318BB19FF15}" dt="2024-11-03T16:22:02.991" v="72" actId="26606"/>
          <ac:spMkLst>
            <pc:docMk/>
            <pc:sldMk cId="325767662" sldId="281"/>
            <ac:spMk id="17" creationId="{2A754B29-A8A8-3BCB-5E62-C4B599D25CEF}"/>
          </ac:spMkLst>
        </pc:spChg>
        <pc:spChg chg="add del mod">
          <ac:chgData name="Thierry Boulanger" userId="94a688e0fac7af5a" providerId="LiveId" clId="{8AC4C24E-2F25-4868-B6CD-E318BB19FF15}" dt="2024-11-03T16:22:02.991" v="72" actId="26606"/>
          <ac:spMkLst>
            <pc:docMk/>
            <pc:sldMk cId="325767662" sldId="281"/>
            <ac:spMk id="18" creationId="{809A359C-3DE9-6C33-827E-275F71D7BA3A}"/>
          </ac:spMkLst>
        </pc:spChg>
        <pc:spChg chg="add del mod">
          <ac:chgData name="Thierry Boulanger" userId="94a688e0fac7af5a" providerId="LiveId" clId="{8AC4C24E-2F25-4868-B6CD-E318BB19FF15}" dt="2024-11-03T16:22:02.991" v="72" actId="26606"/>
          <ac:spMkLst>
            <pc:docMk/>
            <pc:sldMk cId="325767662" sldId="281"/>
            <ac:spMk id="19" creationId="{DDB0286E-8135-998B-52F1-CE41E1ECFA45}"/>
          </ac:spMkLst>
        </pc:spChg>
        <pc:spChg chg="add mod">
          <ac:chgData name="Thierry Boulanger" userId="94a688e0fac7af5a" providerId="LiveId" clId="{8AC4C24E-2F25-4868-B6CD-E318BB19FF15}" dt="2024-11-03T16:22:02.991" v="72" actId="26606"/>
          <ac:spMkLst>
            <pc:docMk/>
            <pc:sldMk cId="325767662" sldId="281"/>
            <ac:spMk id="24" creationId="{89495335-CD2C-3A42-E3A8-C8608A2E1B8A}"/>
          </ac:spMkLst>
        </pc:spChg>
        <pc:graphicFrameChg chg="add mod modGraphic">
          <ac:chgData name="Thierry Boulanger" userId="94a688e0fac7af5a" providerId="LiveId" clId="{8AC4C24E-2F25-4868-B6CD-E318BB19FF15}" dt="2024-11-03T16:22:15.748" v="74" actId="113"/>
          <ac:graphicFrameMkLst>
            <pc:docMk/>
            <pc:sldMk cId="325767662" sldId="281"/>
            <ac:graphicFrameMk id="7" creationId="{8707AF1F-1869-D8F6-D55B-FFF0CC0ABF0D}"/>
          </ac:graphicFrameMkLst>
        </pc:graphicFrameChg>
      </pc:sldChg>
      <pc:sldChg chg="addSp modSp new mod">
        <pc:chgData name="Thierry Boulanger" userId="94a688e0fac7af5a" providerId="LiveId" clId="{8AC4C24E-2F25-4868-B6CD-E318BB19FF15}" dt="2024-11-03T20:13:48.036" v="106" actId="20577"/>
        <pc:sldMkLst>
          <pc:docMk/>
          <pc:sldMk cId="2538151869" sldId="282"/>
        </pc:sldMkLst>
        <pc:spChg chg="mod">
          <ac:chgData name="Thierry Boulanger" userId="94a688e0fac7af5a" providerId="LiveId" clId="{8AC4C24E-2F25-4868-B6CD-E318BB19FF15}" dt="2024-11-03T20:12:52.272" v="95" actId="2710"/>
          <ac:spMkLst>
            <pc:docMk/>
            <pc:sldMk cId="2538151869" sldId="282"/>
            <ac:spMk id="4" creationId="{522966A6-C962-C61E-9129-2E8B1B93A2DE}"/>
          </ac:spMkLst>
        </pc:spChg>
        <pc:spChg chg="add mod">
          <ac:chgData name="Thierry Boulanger" userId="94a688e0fac7af5a" providerId="LiveId" clId="{8AC4C24E-2F25-4868-B6CD-E318BB19FF15}" dt="2024-11-03T20:13:48.036" v="106" actId="20577"/>
          <ac:spMkLst>
            <pc:docMk/>
            <pc:sldMk cId="2538151869" sldId="282"/>
            <ac:spMk id="5" creationId="{90A19732-382A-EFE5-53CE-36073B37112F}"/>
          </ac:spMkLst>
        </pc:spChg>
      </pc:sldChg>
      <pc:sldChg chg="addSp delSp modSp new mod modMedia modClrScheme delAnim chgLayout">
        <pc:chgData name="Thierry Boulanger" userId="94a688e0fac7af5a" providerId="LiveId" clId="{8AC4C24E-2F25-4868-B6CD-E318BB19FF15}" dt="2024-11-04T07:40:33.753" v="145" actId="26606"/>
        <pc:sldMkLst>
          <pc:docMk/>
          <pc:sldMk cId="830189261" sldId="283"/>
        </pc:sldMkLst>
        <pc:spChg chg="mod ord">
          <ac:chgData name="Thierry Boulanger" userId="94a688e0fac7af5a" providerId="LiveId" clId="{8AC4C24E-2F25-4868-B6CD-E318BB19FF15}" dt="2024-11-04T07:40:33.753" v="145" actId="26606"/>
          <ac:spMkLst>
            <pc:docMk/>
            <pc:sldMk cId="830189261" sldId="283"/>
            <ac:spMk id="2" creationId="{1A07996C-72B3-ED89-7C15-59B0E35C9FB5}"/>
          </ac:spMkLst>
        </pc:spChg>
        <pc:spChg chg="add del">
          <ac:chgData name="Thierry Boulanger" userId="94a688e0fac7af5a" providerId="LiveId" clId="{8AC4C24E-2F25-4868-B6CD-E318BB19FF15}" dt="2024-11-03T20:15:10.077" v="111" actId="26606"/>
          <ac:spMkLst>
            <pc:docMk/>
            <pc:sldMk cId="830189261" sldId="283"/>
            <ac:spMk id="3" creationId="{EB539C58-D3C1-DDD1-016C-83D47904EAED}"/>
          </ac:spMkLst>
        </pc:spChg>
        <pc:spChg chg="mod ord">
          <ac:chgData name="Thierry Boulanger" userId="94a688e0fac7af5a" providerId="LiveId" clId="{8AC4C24E-2F25-4868-B6CD-E318BB19FF15}" dt="2024-11-04T07:40:33.753" v="145" actId="26606"/>
          <ac:spMkLst>
            <pc:docMk/>
            <pc:sldMk cId="830189261" sldId="283"/>
            <ac:spMk id="4" creationId="{692B683E-7E60-765E-1553-27FCC3D9AE44}"/>
          </ac:spMkLst>
        </pc:spChg>
        <pc:spChg chg="mod ord">
          <ac:chgData name="Thierry Boulanger" userId="94a688e0fac7af5a" providerId="LiveId" clId="{8AC4C24E-2F25-4868-B6CD-E318BB19FF15}" dt="2024-11-04T07:40:33.753" v="145" actId="26606"/>
          <ac:spMkLst>
            <pc:docMk/>
            <pc:sldMk cId="830189261" sldId="283"/>
            <ac:spMk id="5" creationId="{F5CC0F36-73DC-CD18-FD60-81F8A4D1870D}"/>
          </ac:spMkLst>
        </pc:spChg>
        <pc:spChg chg="add del">
          <ac:chgData name="Thierry Boulanger" userId="94a688e0fac7af5a" providerId="LiveId" clId="{8AC4C24E-2F25-4868-B6CD-E318BB19FF15}" dt="2024-11-03T20:15:10.077" v="111" actId="26606"/>
          <ac:spMkLst>
            <pc:docMk/>
            <pc:sldMk cId="830189261" sldId="283"/>
            <ac:spMk id="6" creationId="{A746813B-D4A3-4B38-010C-C40F3D5C6BCD}"/>
          </ac:spMkLst>
        </pc:spChg>
        <pc:spChg chg="add mod">
          <ac:chgData name="Thierry Boulanger" userId="94a688e0fac7af5a" providerId="LiveId" clId="{8AC4C24E-2F25-4868-B6CD-E318BB19FF15}" dt="2024-11-04T07:40:33.753" v="145" actId="26606"/>
          <ac:spMkLst>
            <pc:docMk/>
            <pc:sldMk cId="830189261" sldId="283"/>
            <ac:spMk id="7" creationId="{8B7F312B-E08C-8F4D-21FD-470B90ACBE58}"/>
          </ac:spMkLst>
        </pc:spChg>
        <pc:spChg chg="add del mod">
          <ac:chgData name="Thierry Boulanger" userId="94a688e0fac7af5a" providerId="LiveId" clId="{8AC4C24E-2F25-4868-B6CD-E318BB19FF15}" dt="2024-11-04T07:38:56.946" v="119" actId="26606"/>
          <ac:spMkLst>
            <pc:docMk/>
            <pc:sldMk cId="830189261" sldId="283"/>
            <ac:spMk id="1030" creationId="{42CD681A-1931-D2A9-58A3-D88C19EC71AB}"/>
          </ac:spMkLst>
        </pc:spChg>
        <pc:spChg chg="add del mod">
          <ac:chgData name="Thierry Boulanger" userId="94a688e0fac7af5a" providerId="LiveId" clId="{8AC4C24E-2F25-4868-B6CD-E318BB19FF15}" dt="2024-11-04T07:38:56.946" v="119" actId="26606"/>
          <ac:spMkLst>
            <pc:docMk/>
            <pc:sldMk cId="830189261" sldId="283"/>
            <ac:spMk id="1032" creationId="{A9229A77-E81A-0F89-000F-C49DBA449A17}"/>
          </ac:spMkLst>
        </pc:spChg>
        <pc:spChg chg="add del mod">
          <ac:chgData name="Thierry Boulanger" userId="94a688e0fac7af5a" providerId="LiveId" clId="{8AC4C24E-2F25-4868-B6CD-E318BB19FF15}" dt="2024-11-04T07:38:56.946" v="119" actId="26606"/>
          <ac:spMkLst>
            <pc:docMk/>
            <pc:sldMk cId="830189261" sldId="283"/>
            <ac:spMk id="1034" creationId="{4FFF97AC-B516-C44E-5C5D-5777AE66BFD9}"/>
          </ac:spMkLst>
        </pc:spChg>
        <pc:picChg chg="add del mod">
          <ac:chgData name="Thierry Boulanger" userId="94a688e0fac7af5a" providerId="LiveId" clId="{8AC4C24E-2F25-4868-B6CD-E318BB19FF15}" dt="2024-11-04T07:40:33.753" v="145" actId="26606"/>
          <ac:picMkLst>
            <pc:docMk/>
            <pc:sldMk cId="830189261" sldId="283"/>
            <ac:picMk id="9" creationId="{71E60C6F-2E81-9366-9535-697AA2AA1EE4}"/>
          </ac:picMkLst>
        </pc:picChg>
        <pc:picChg chg="add del mod ord">
          <ac:chgData name="Thierry Boulanger" userId="94a688e0fac7af5a" providerId="LiveId" clId="{8AC4C24E-2F25-4868-B6CD-E318BB19FF15}" dt="2024-11-04T07:39:59.073" v="131" actId="21"/>
          <ac:picMkLst>
            <pc:docMk/>
            <pc:sldMk cId="830189261" sldId="283"/>
            <ac:picMk id="1025" creationId="{0CC5F903-A1C6-D904-C073-011B0CC59AD9}"/>
          </ac:picMkLst>
        </pc:picChg>
      </pc:sldChg>
      <pc:sldChg chg="addSp delSp modSp new mod modClrScheme chgLayout">
        <pc:chgData name="Thierry Boulanger" userId="94a688e0fac7af5a" providerId="LiveId" clId="{8AC4C24E-2F25-4868-B6CD-E318BB19FF15}" dt="2024-11-04T07:40:19.451" v="134" actId="26606"/>
        <pc:sldMkLst>
          <pc:docMk/>
          <pc:sldMk cId="473913231" sldId="284"/>
        </pc:sldMkLst>
        <pc:spChg chg="mod">
          <ac:chgData name="Thierry Boulanger" userId="94a688e0fac7af5a" providerId="LiveId" clId="{8AC4C24E-2F25-4868-B6CD-E318BB19FF15}" dt="2024-11-04T07:40:19.451" v="134" actId="26606"/>
          <ac:spMkLst>
            <pc:docMk/>
            <pc:sldMk cId="473913231" sldId="284"/>
            <ac:spMk id="2" creationId="{18B088BB-88D7-DA51-24B8-4A16E6DD39EE}"/>
          </ac:spMkLst>
        </pc:spChg>
        <pc:spChg chg="mod modVis">
          <ac:chgData name="Thierry Boulanger" userId="94a688e0fac7af5a" providerId="LiveId" clId="{8AC4C24E-2F25-4868-B6CD-E318BB19FF15}" dt="2024-11-04T07:40:19.451" v="134" actId="26606"/>
          <ac:spMkLst>
            <pc:docMk/>
            <pc:sldMk cId="473913231" sldId="284"/>
            <ac:spMk id="3" creationId="{9F394BC8-A481-7D05-DBC1-5C4428C050F0}"/>
          </ac:spMkLst>
        </pc:spChg>
        <pc:spChg chg="add del">
          <ac:chgData name="Thierry Boulanger" userId="94a688e0fac7af5a" providerId="LiveId" clId="{8AC4C24E-2F25-4868-B6CD-E318BB19FF15}" dt="2024-11-04T07:40:19.451" v="134" actId="26606"/>
          <ac:spMkLst>
            <pc:docMk/>
            <pc:sldMk cId="473913231" sldId="284"/>
            <ac:spMk id="4" creationId="{E28D1785-2EDA-D70B-A3A7-AD8889B7476D}"/>
          </ac:spMkLst>
        </pc:spChg>
        <pc:picChg chg="add mod ord">
          <ac:chgData name="Thierry Boulanger" userId="94a688e0fac7af5a" providerId="LiveId" clId="{8AC4C24E-2F25-4868-B6CD-E318BB19FF15}" dt="2024-11-04T07:40:19.451" v="134" actId="26606"/>
          <ac:picMkLst>
            <pc:docMk/>
            <pc:sldMk cId="473913231" sldId="284"/>
            <ac:picMk id="1025" creationId="{0CC5F903-A1C6-D904-C073-011B0CC59AD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BB651C5-239C-481D-B679-C1853F3D7869}" type="datetime1">
              <a:rPr lang="fr-FR" smtClean="0"/>
              <a:t>04/11/2024</a:t>
            </a:fld>
            <a:endParaRPr lang="fr-FR" dirty="0"/>
          </a:p>
        </p:txBody>
      </p:sp>
      <p:sp>
        <p:nvSpPr>
          <p:cNvPr id="4" name="Espace réservé du pied de page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fr-FR" smtClean="0"/>
              <a:t>‹N°›</a:t>
            </a:fld>
            <a:endParaRPr lang="fr-FR"/>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C3F468-A24C-40BA-9BA0-927B9D8CEF08}" type="datetime1">
              <a:rPr lang="fr-FR" smtClean="0"/>
              <a:pPr/>
              <a:t>04/11/2024</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fr-FR" noProof="0" smtClean="0"/>
              <a:t>‹N°›</a:t>
            </a:fld>
            <a:endParaRPr lang="fr-FR"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Cette présentation a été générée automatiquement par PowerPoint Copilot sur la base du contenu trouvé dans ce document :
https://capgemini-my.sharepoint.com/personal/thierry_boulanger_sogeti_com/_layouts/15/Doc.aspx?sourcedoc=%7BB42B07E3-2FA7-4681-8E56-8E7A530F0CBE%7D&amp;file=CousBaseDeDonneesBigData.docx&amp;action=default&amp;mobileredirect=true&amp;DefaultItemOpen=1
Le contenu généré par l'IA peut être incorrect.</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a:t>
            </a:fld>
            <a:endParaRPr lang="fr-FR" noProof="0" dirty="0"/>
          </a:p>
        </p:txBody>
      </p:sp>
    </p:spTree>
    <p:extLst>
      <p:ext uri="{BB962C8B-B14F-4D97-AF65-F5344CB8AC3E}">
        <p14:creationId xmlns:p14="http://schemas.microsoft.com/office/powerpoint/2010/main" val="366071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Ordre du jour
* Définition et concept de Big Data
* Types de données
    * Données structurées
    * Données non structurées
* Concepts fondamentaux du Big Data
    * Les 3 V du Big Data
    * Autres caractéristiques du Big Data
* Rôle des bases de données
* Types de bases de données Big Data
    * Bases de données relationnelles
    * Bases de données NoSQL
    * Bases de données NewSQL
    * Bases de données en mémoire
* Technologies et plateformes Big Data
    * Apache Hadoop
    * Apache Spark
    * HDFS et MapReduce
    * Google BigQuery
* Architecture des bases de données Big Data
    * Modèles de données
    * Partitionnement et sharding
    * Réplicabilité et tolérance aux pannes
* Gestion et analyse des données
    * ETL (Extract, Transform, Load)
    * Analyses en temps réel
    * Data Warehousing
    * Data lakes
* Rôle du machine learning
* Secteurs d'application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a:t>
            </a:fld>
            <a:endParaRPr lang="fr-FR" noProof="0" dirty="0"/>
          </a:p>
        </p:txBody>
      </p:sp>
    </p:spTree>
    <p:extLst>
      <p:ext uri="{BB962C8B-B14F-4D97-AF65-F5344CB8AC3E}">
        <p14:creationId xmlns:p14="http://schemas.microsoft.com/office/powerpoint/2010/main" val="2294431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Big Data désigne des ensembles de données volumineux et complexes provenant de diverses sources. Leur gestion nécessite des technologies avancées pour extraire des informations et prendre des décisions basées sur les données.
Original Content:
Définition et concept de Big Data
Le Big Data se réfère à des ensembles de données extrêmement volumineux et complexes qui ne peuvent pas être traités efficacement avec des outils de gestion de données traditionnels. Ces données proviennent de diverses sources telles que les réseaux sociaux, les capteurs IoT, les transactions en ligne, et bien plus encore. La gestion et l'analyse du Big Data nécessitent des technologies avancées pour extraire des informations précieuses et prendre des décisions fondées sur les données.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3</a:t>
            </a:fld>
            <a:endParaRPr lang="fr-FR" noProof="0" dirty="0"/>
          </a:p>
        </p:txBody>
      </p:sp>
    </p:spTree>
    <p:extLst>
      <p:ext uri="{BB962C8B-B14F-4D97-AF65-F5344CB8AC3E}">
        <p14:creationId xmlns:p14="http://schemas.microsoft.com/office/powerpoint/2010/main" val="2367443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données structurées sont organisées et analysables facilement. Elles sont stockées dans des bases de données relationnelles. Exemples : transactions financières, informations clients dans un CRM, et résultats de capteurs.
Original Content:
Les données structurées et non structurées sont deux catégories essentielles dans le monde du Big Data.
Les données structurées sont organisées de manière prédéfinie et sont facilement analysables par des algorithmes informatiques. Elles sont souvent stockées dans des bases de données relationnelles sous forme de tables et de champs. Des exemples de données structurées incluent les enregistrements de transactions financières, les informations de clients dans un CRM, ou encore les résultats de capteurs dans un format de tableau.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7</a:t>
            </a:fld>
            <a:endParaRPr lang="fr-FR" noProof="0" dirty="0"/>
          </a:p>
        </p:txBody>
      </p:sp>
    </p:spTree>
    <p:extLst>
      <p:ext uri="{BB962C8B-B14F-4D97-AF65-F5344CB8AC3E}">
        <p14:creationId xmlns:p14="http://schemas.microsoft.com/office/powerpoint/2010/main" val="3613185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données non structurées, comme les textes libres et les vidéos, sont difficiles à analyser sans prétraitement. Leur gestion est cruciale pour exploiter les informations et prendre des décisions éclairées.
Original Content:
En revanche, les données non structurées ne suivent pas une organisation spécifique et sont plus difficiles à analyser sans prétraitement. Elles incluent des textes libres, des images, des vidéos, des courriels, et des publications sur les réseaux sociaux. Par exemple, les commentaires sur des plateformes de médias sociaux, les vidéos téléchargées sur YouTube, et les courriels envoyés et reçus sont tous des formes de données non structurées.
La capacité à gérer et analyser ces deux types de données est cruciale pour tirer le meilleur parti des informations disponibles et prendre des décisions éclairées.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8</a:t>
            </a:fld>
            <a:endParaRPr lang="fr-FR" noProof="0" dirty="0"/>
          </a:p>
        </p:txBody>
      </p:sp>
    </p:spTree>
    <p:extLst>
      <p:ext uri="{BB962C8B-B14F-4D97-AF65-F5344CB8AC3E}">
        <p14:creationId xmlns:p14="http://schemas.microsoft.com/office/powerpoint/2010/main" val="1324850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concepts fondamentaux du Big Data incluent le volume, la variété et la vélocité. Le volume concerne la quantité immense de données. La variété se réfère aux différentes formes de données. La vélocité indique la rapidité de génération et de traitement des données.
Original Content:
Les concepts fondamentaux du Big Data incluent les « 3 V »
·         Volume : La quantité de données générées, stockées et analysées est immense, souvent de l'ordre des téraoctets ou des pétaoctets.
·         Variété : Les données proviennent de multiples sources et prennent des formes diverses, y compris des données structurées, semi-structurées et non structurées.
·         Vélocité : La vitesse à laquelle les données sont générées et doivent être traitées est très rapide, parfois en temps réel.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9</a:t>
            </a:fld>
            <a:endParaRPr lang="fr-FR" noProof="0" dirty="0"/>
          </a:p>
        </p:txBody>
      </p:sp>
    </p:spTree>
    <p:extLst>
      <p:ext uri="{BB962C8B-B14F-4D97-AF65-F5344CB8AC3E}">
        <p14:creationId xmlns:p14="http://schemas.microsoft.com/office/powerpoint/2010/main" val="2703185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En plus des trois caractéristiques principales, nous avons la véracité, qui concerne la qualité et la fiabilité des données, et la valeur, qui est la capacité à transformer les données brutes en informations utiles.
Original Content:
À ces trois caractéristiques, on peut ajouter d’autres « V » comme la Véracité (la qualité et la fiabilité des données) et la Valeur (la capacité à transformer les données brutes en informations utiles).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10</a:t>
            </a:fld>
            <a:endParaRPr lang="fr-FR" noProof="0" dirty="0"/>
          </a:p>
        </p:txBody>
      </p:sp>
    </p:spTree>
    <p:extLst>
      <p:ext uri="{BB962C8B-B14F-4D97-AF65-F5344CB8AC3E}">
        <p14:creationId xmlns:p14="http://schemas.microsoft.com/office/powerpoint/2010/main" val="3894281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sont essentielles dans le Big Data pour gérer, stocker et analyser de grandes quantités de données. Elles offrent une infrastructure robuste pour organiser les données et les transformer en informations exploitables.
Original Content:
Importance des bases de données dans le Big Data
Les bases de données jouent un rôle crucial dans le domaine du Big Data, car elles permettent de gérer, stocker et analyser efficacement les énormes volumes de données générés. Elles offrent une infrastructure robuste pour organiser et interroger les données, facilitant ainsi leur extraction et leur transformation en informations exploitables.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11</a:t>
            </a:fld>
            <a:endParaRPr lang="fr-FR" noProof="0" dirty="0"/>
          </a:p>
        </p:txBody>
      </p:sp>
    </p:spTree>
    <p:extLst>
      <p:ext uri="{BB962C8B-B14F-4D97-AF65-F5344CB8AC3E}">
        <p14:creationId xmlns:p14="http://schemas.microsoft.com/office/powerpoint/2010/main" val="2118867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Big Data gèrent des volumes massifs de données en utilisant des architectures distribuées. Elles traitent des données structurées et non structurées. Les bases de données relationnelles comme Oracle, Microsoft SQL Server et PostgreSQL sont adaptées aux besoins du Big Data.
Original Content:
Types de bases de données Big Data
Les bases de données Big Data sont conçues pour gérer des volumes massifs de données, souvent en utilisant des architectures distribuées. Elles permettent d'analyser en temps réel des données de sources variées, allant des réseaux sociaux aux capteurs IoT. De plus, elles sont capables de traiter des données structurées et non structurées, offrant ainsi une grande flexibilité.
Bases de données relationnelles
Parmi les bases de données relationnelles taillées pour le Big Data, on trouve :
Oracle : Cette base de données est réputée pour ses performances, son scalabilité et ses capacités de gestion de transactions, ce qui en fait un choix fréquent pour les applications d'entreprise critiques nécessitant de grandes capacités de traitement des données.
Microsoft SQL Server : Intégrée dans de nombreux environnements Microsoft, SQL Server offre des outils puissants pour l'analyse de données et la Business Intelligence, ce qui la rend adaptée aux besoins du Big Data.
PostgreSQL : Appréciée pour sa conformité aux standards SQL et ses fonctionnalités avancées, PostgreSQL est souvent utilisée pour des applications nécessitant une intégrité des données élevée et des requêtes complexes, adaptées aux grandes quantités de données du Big Data.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12</a:t>
            </a:fld>
            <a:endParaRPr lang="fr-FR" noProof="0" dirty="0"/>
          </a:p>
        </p:txBody>
      </p:sp>
    </p:spTree>
    <p:extLst>
      <p:ext uri="{BB962C8B-B14F-4D97-AF65-F5344CB8AC3E}">
        <p14:creationId xmlns:p14="http://schemas.microsoft.com/office/powerpoint/2010/main" val="771668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NoSQL offrent flexibilité et scalabilité pour gérer des données massives. MongoDB, Cassandra et CouchDB sont des exemples populaires, chacun ayant des caractéristiques uniques pour différentes applications.
Original Content:
Les bases de données NoSQL
Les bases de données NoSQL sont conçues pour offrir une flexibilité et une scalabilité que les bases de données relationnelles traditionnelles peuvent manquer. Elles sont particulièrement efficaces pour gérer des volumes massifs de données non structurées et semi-structurées, souvent générées par les applications modernes telles que les réseaux sociaux, les applications mobiles et les systèmes IoT.
Voici quelques exemples de bases de données NoSQL populaires :
MongoDB : Une base de données orientée document, MongoDB stocke les données dans des documents JSON-like, ce qui permet une grande flexibilité et une facilité de mise à l'échelle horizontale. Elle est couramment utilisée pour les applications web, les plateformes de gestion de contenu et les systèmes de gestion de catalogues.
Cassandra : Développée à l'origine par Facebook, Cassandra est une base de données orientée colonne qui offre une grande scalabilité et une tolérance aux pannes exceptionnelle. Elle est souvent utilisée pour les applications nécessitant une disponibilité élevée et une écriture intensive, telles que les réseaux sociaux et les outils d'analyse.
CouchDB : Connu pour sa simplicité et sa robustesse, CouchDB stocke les données dans des documents JSON et utilise le protocole HTTP pour les interactions. Il est souvent choisi pour les applications nécessitant une synchronisation facile des données entre les différents appareils.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13</a:t>
            </a:fld>
            <a:endParaRPr lang="fr-FR" noProof="0" dirty="0"/>
          </a:p>
        </p:txBody>
      </p:sp>
    </p:spTree>
    <p:extLst>
      <p:ext uri="{BB962C8B-B14F-4D97-AF65-F5344CB8AC3E}">
        <p14:creationId xmlns:p14="http://schemas.microsoft.com/office/powerpoint/2010/main" val="2838396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NewSQL combinent les avantages des bases relationnelles et NoSQL, offrant scalabilité horizontale et consistance transactionnelle. Exemples : Google Spanner et CockroachDB. Idéales pour les applications modernes avec des volumes massifs de données.
Original Content:
Bases de données NewSQL
Les bases de données NewSQL combinent les avantages des bases de données relationnelles traditionnelles et des bases de données NoSQL. Elles sont conçues pour offrir une scalabilité horizontale tout en maintenant la consistance transactionnelle et le support des requêtes SQL. Voici quelques exemples populaires de bases de données NewSQL :
Google Spanner : Développée par Google, Spanner est une base de données distribuée qui offre des transactions ACID globales et une consistance forte, tout en permettant une scalabilité horizontale. Elle est souvent utilisée pour des applications nécessitant à la fois une haute disponibilité et une forte consistance des données.
CockroachDB : Inspirée par Google Spanner, CockroachDB est une base de données distribuée et résiliente qui garantit une consistance transactionnelle et une scalabilité automatique. Elle est adaptée aux applications qui nécessitent une tolérance aux pannes et une haute disponibilité.
Avec l'émergence des bases de données NewSQL, les entreprises peuvent désormais gérer des volumes massifs de données tout en maintenant les propriétés transactionnelles traditionnelles, ce qui les rend idéales pour les applications modernes nécessitant une scalabilité et une consistance élevée.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15</a:t>
            </a:fld>
            <a:endParaRPr lang="fr-FR" noProof="0" dirty="0"/>
          </a:p>
        </p:txBody>
      </p:sp>
    </p:spTree>
    <p:extLst>
      <p:ext uri="{BB962C8B-B14F-4D97-AF65-F5344CB8AC3E}">
        <p14:creationId xmlns:p14="http://schemas.microsoft.com/office/powerpoint/2010/main" val="2637143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en mémoire stockent les données en RAM, offrant rapidité, scalabilité et simplicité. Elles sont idéales pour les caches, les sessions utilisateur et les files d'attente de messages. Exemples : Redis, VoltDB et MemSQL.
Original Content:
Bases de données en mémoire
Bases de données en mémoire
Les bases de données en mémoire, également appelées bases de données in-memory, stockent l'ensemble de leurs données directement dans la mémoire principale (RAM) plutôt que sur des disques durs traditionnels. Cette architecture permet d'atteindre des vitesses de traitement extrêmement rapides, ce qui est crucial pour les applications nécessitant des temps de réponse très courts.
Les avantages des bases de données en mémoire
·         Rapidité : En accédant aux données en RAM, les bases de données en mémoire réduisent considérablement les latences de lecture et d'écriture.
·         Scalabilité : Elles sont conçues pour s'étendre facilement en ajoutant plus de mémoire, ce qui permet de gérer des volumes de données croissants sans compromis sur les performances.
·         Simplicité : La gestion des données en mémoire simplifie souvent les architectures d'application en évitant les goulots d'étranglement liés aux E/S de disque.
Utilisations courantes
Les bases de données en mémoire sont idéales pour :
·         Les caches : Elles servent à stocker temporairement des données fréquemment accédées pour accélérer les requêtes.
·         Les sessions utilisateur : Elles permettent de gérer efficacement les sessions utilisateur en temps réel.
·         Les file d'attente de messages : Elles assurent une gestion rapide et fiable des messages entre différents modules d'une application.
Exemples de bases de données en mémoire
·         Redis : Une base de données en mémoire extrêmement rapide, souvent utilisée pour les caches, les sessions utilisateur et les file d'attente de messages.
·         VoltDB : Cette base de données combine les avantages des technologies en mémoire avec des fonctionnalités transactionnelles avancées, idéale pour les applications financières et les systèmes de télécommunications.
·         MemSQL : Maintenant connu sous le nom de SingleStore, il combine le traitement en mémoire et le stockage sur disque pour offrir des performances élevées en lecture et en écriture, utilisé pour des applications d'analyse en temps réel et des traitements transactionnels.
La popularité croissante des bases de données en mémoire découle de leur capacité à répondre aux exigences des applications modernes, qui nécessitent à la fois rapidité, scalabilité et flexibilité. En intégrant ces solutions, les entreprises peuvent améliorer significativement les performances et l'efficacité de leurs systèmes informatiques.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16</a:t>
            </a:fld>
            <a:endParaRPr lang="fr-FR" noProof="0" dirty="0"/>
          </a:p>
        </p:txBody>
      </p:sp>
    </p:spTree>
    <p:extLst>
      <p:ext uri="{BB962C8B-B14F-4D97-AF65-F5344CB8AC3E}">
        <p14:creationId xmlns:p14="http://schemas.microsoft.com/office/powerpoint/2010/main" val="373082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Apache Hadoop est un cadre logiciel open source pour le traitement distribué de grandes quantités de données. Il évolue du traitement unique vers des milliers de machines, offrant stockage et puissance de calcul locaux. Utilisé pour l'analyse de données massives et les modèles prédictifs.
Original Content:
Technologies et plateformes Big Data
Apache Hadoop
Apache Hadoop est un cadre logiciel open source qui permet le traitement distribué de grandes quantités de données sur des clusters de serveurs commodément configurés. Conçu pour évoluer du traitement unique vers des milliers de machines, chacune offrant stockage et puissance de calcul locaux, Hadoop est utilisé pour des tâches allant de l'analyse de données massives aux modèles prédictifs.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17</a:t>
            </a:fld>
            <a:endParaRPr lang="fr-FR" noProof="0" dirty="0"/>
          </a:p>
        </p:txBody>
      </p:sp>
    </p:spTree>
    <p:extLst>
      <p:ext uri="{BB962C8B-B14F-4D97-AF65-F5344CB8AC3E}">
        <p14:creationId xmlns:p14="http://schemas.microsoft.com/office/powerpoint/2010/main" val="976629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Apache Spark est un moteur de traitement de données en mémoire, rapide et efficace pour des tâches complexes. Contrairement à Hadoop, Spark stocke les données en mémoire, ce qui accélère le traitement. Spark excelle dans le traitement interactif et en temps réel grâce à ses bibliothèques intégrées.
Original Content:
·         Apache Spark
Apache Spark
Apache Spark est un moteur de traitement de données en mémoire qui permet d'effectuer des analyses de données massives de manière rapide et efficace. Il est conçu pour traiter des tâches complexes telles que les calculs en mémoire, l'apprentissage automatique, le traitement de graphes et le traitement en temps réel. Spark utilise un modèle de programmation basé sur des RDD (Resilient Distributed Datasets), qui permet de traiter les données de manière distribuée et tolérante aux pannes.
Contrairement à Apache Hadoop, qui repose sur le modèle de programmation MapReduce et stocke les données sur le système de fichiers distribué HDFS, Spark se distingue par sa capacité à stocker les données en mémoire, ce qui permet d'accélérer considérablement le traitement des données. Tandis que Hadoop est plus adapté aux tâches de traitement par lots, Spark excelle dans les tâches de traitement interactif et en temps réel grâce à ses bibliothèques intégrées comme Spark SQL, MLlib pour l'apprentissage automatique, GraphX pour le traitement de graphes et Spark Streaming pour le traitement de flux.
En résumé, Apache Spark offre une flexibilité et une rapidité accrues par rapport à Hadoop, en particulier pour les applications nécessitant un traitement itératif ou interactif des données. Cependant, Hadoop reste une solution robuste pour le stockage et le traitement par lots de très grandes quantités de données.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18</a:t>
            </a:fld>
            <a:endParaRPr lang="fr-FR" noProof="0" dirty="0"/>
          </a:p>
        </p:txBody>
      </p:sp>
    </p:spTree>
    <p:extLst>
      <p:ext uri="{BB962C8B-B14F-4D97-AF65-F5344CB8AC3E}">
        <p14:creationId xmlns:p14="http://schemas.microsoft.com/office/powerpoint/2010/main" val="3734901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HDFS est un système de fichiers distribué qui stocke des données sur des clusters de serveurs. MapReduce est un modèle de programmation pour traiter ces données en parallèle. Ensemble, ils permettent à Hadoop de gérer de grandes quantités de données et de réaliser des analyses complexes.
Original Content:
HDFS et MapReduce
HDFS (Hadoop Distributed File System) et MapReduce sont deux composantes clés du framework Apache Hadoop. HDFS est un système de fichiers distribué qui permet de stocker de grandes quantités de données sur des clusters de serveurs. Il divise les fichiers en blocs et les distribue sur plusieurs machines, garantissant ainsi la disponibilité et la tolérance aux pannes grâce à la réplication des données. Chaque bloc de données est répliqué sur plusieurs nœuds du cluster, ce qui assure la résilience en cas de défaillance matérielle.
MapReduce est un modèle de programmation utilisé pour le traitement distribué des données stockées sur HDFS. Il se compose de deux phases principales : la phase Map, où les données sont divisées en paires clé-valeur et traitées en parallèle, et la phase Reduce, où les résultats intermédiaires sont combinés pour produire le résultat final. Ce modèle permet de traiter efficacement de vastes ensembles de données en exploitant la puissance de calcul de nombreux nœuds du cluster.
En utilisant HDFS pour le stockage distribué et MapReduce pour le traitement parallèle, Hadoop est capable de gérer des volumes de données massifs et de réaliser des analyses complexes de manière évolutive et fiable.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19</a:t>
            </a:fld>
            <a:endParaRPr lang="fr-FR" noProof="0" dirty="0"/>
          </a:p>
        </p:txBody>
      </p:sp>
    </p:spTree>
    <p:extLst>
      <p:ext uri="{BB962C8B-B14F-4D97-AF65-F5344CB8AC3E}">
        <p14:creationId xmlns:p14="http://schemas.microsoft.com/office/powerpoint/2010/main" val="66806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Google BigQuery est un service de Google Cloud pour le stockage et l'analyse de données massives. Il permet des requêtes SQL rapides sur des pétaoctets de données, utilise une architecture de stockage en colonnes et intègre des outils de machine learning. C'est une solution puissante pour les entreprises cherchant des analyses en temps réel.
Original Content:
Google BigQuery
Google BigQuery est un service de stockage et d'analyse de données massives entièrement géré et sans serveur, proposé par Google Cloud. Conçu pour traiter d'énormes volumes de données en quelques secondes, BigQuery permet aux utilisateurs d'exécuter des requêtes SQL rapides sur des pétaoctets de données. Grâce à sa capacité à traiter les données en parallèle, BigQuery offre une performance élevée et une évolutivité automatique.
BigQuery utilise une architecture de stockage en colonnes, qui permet d'optimiser les requêtes pour des analyses rapides et efficaces. Les données sont stockées de manière compressée et distribuée sur plusieurs serveurs, ce qui garantit une haute disponibilité et une tolérance aux pannes. De plus, BigQuery intègre des outils de machine learning et de visualisation de données, facilitant ainsi la création de modèles prédictifs et l'exploration des données.
En somme, Google BigQuery est une solution puissante pour les entreprises qui cherchent à tirer parti des données massives pour des analyses en temps réel et des insights opérationnels. Son intégration avec d'autres services Google Cloud en fait un choix privilégié pour les projets de Big Data et d'analyse avancée, permettant ainsi aux utilisateurs de gérer efficacement leurs données et de prendre des décisions éclairées basées sur des analyses approfondies.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20</a:t>
            </a:fld>
            <a:endParaRPr lang="fr-FR" noProof="0" dirty="0"/>
          </a:p>
        </p:txBody>
      </p:sp>
    </p:spTree>
    <p:extLst>
      <p:ext uri="{BB962C8B-B14F-4D97-AF65-F5344CB8AC3E}">
        <p14:creationId xmlns:p14="http://schemas.microsoft.com/office/powerpoint/2010/main" val="4212312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Big Data utilisent des modèles de données variés. Les bases de données à schéma fixe, comme MySQL, imposent une structure rigide, tandis que les bases de données sans schéma, comme MongoDB, offrent plus de flexibilité pour des applications agiles.
Original Content:
Modèles de données
L'architecture des bases de données Big Data repose sur différents modèles de données, chacun ayant ses propres avantages et inconvénients selon les cas d'utilisation spécifiques. Ces modèles peuvent être classés en deux grandes catégories : les bases de données à schéma fixe (schema) et les bases de données sans schéma (schema-less).
Schéma et schéma-less
Un modèle de données à schéma fixe impose une structure rigide aux données, définissant à l'avance les types de données, la longueur des champs et les relations entre les tables. Ce type de modèle est couramment utilisé dans les bases de données relationnelles traditionnelles, comme MySQL et PostgreSQL, où la normalisation des données et l'intégrité référentielle sont cruciales.
En revanche, les bases de données sans schéma, telles que MongoDB et Cassandra, offrent une flexibilité accrue en permettant aux utilisateurs de stocker des données hétérogènes et en évolution, sans nécessiter de pré-définir la structure des données. Ce modèle est particulièrement adapté aux applications qui nécessitent une grande agilité dans la gestion des données, comme les applications mobiles et les réseaux sociaux.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21</a:t>
            </a:fld>
            <a:endParaRPr lang="fr-FR" noProof="0" dirty="0"/>
          </a:p>
        </p:txBody>
      </p:sp>
    </p:spTree>
    <p:extLst>
      <p:ext uri="{BB962C8B-B14F-4D97-AF65-F5344CB8AC3E}">
        <p14:creationId xmlns:p14="http://schemas.microsoft.com/office/powerpoint/2010/main" val="227533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partitionnement divise une base de données en segments plus petits, tandis que le sharding répartit les données sur plusieurs serveurs. Ces techniques améliorent les performances et la disponibilité en distribuant la charge de travail et en réduisant les goulots d'étranglement.
Original Content:
Partitionnement et sharding
Le partitionnement et le sharding sont des techniques essentielles pour améliorer les performances et la scalabilité des bases de données Big Data. Le partitionnement consiste à diviser une grande base de données en segments plus petits et gérables, appelés partitions, qui peuvent être stockés et traités indépendamment. Le sharding, quant à lui, est une forme de partitionnement horizontal où les données sont réparties sur plusieurs serveurs ou clusters, chacun contenant un sous-ensemble des données totales. Ces techniques permettent de distribuer la charge de travail et de réduire les goulots d'étranglement, assurant ainsi une meilleure performance et une haute disponibilité.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22</a:t>
            </a:fld>
            <a:endParaRPr lang="fr-FR" noProof="0" dirty="0"/>
          </a:p>
        </p:txBody>
      </p:sp>
    </p:spTree>
    <p:extLst>
      <p:ext uri="{BB962C8B-B14F-4D97-AF65-F5344CB8AC3E}">
        <p14:creationId xmlns:p14="http://schemas.microsoft.com/office/powerpoint/2010/main" val="797377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réplicabilité crée plusieurs copies des données sur différents nœuds pour assurer la continuité du service. La tolérance aux pannes permet au système de fonctionner normalement malgré les défaillances. Elasticsearch et HBase utilisent ces principes pour une gestion fiable des données.
Original Content:
Réplicabilité et tolérance aux pannes
La réplicabilité et la tolérance aux pannes sont des aspects cruciaux de l'architecture des bases de données Big Data. La réplicabilité consiste à créer plusieurs copies des données sur différents nœuds du cluster pour garantir la continuité du service en cas de défaillance matérielle ou logicielle. La tolérance aux pannes permet au système de continuer à fonctionner normalement même si une ou plusieurs parties du système échouent. Des technologies comme Elasticsearch et HBase utilisent ces principes pour offrir des solutions robustes et fiables pour la gestion des données à grande échelle.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23</a:t>
            </a:fld>
            <a:endParaRPr lang="fr-FR" noProof="0" dirty="0"/>
          </a:p>
        </p:txBody>
      </p:sp>
    </p:spTree>
    <p:extLst>
      <p:ext uri="{BB962C8B-B14F-4D97-AF65-F5344CB8AC3E}">
        <p14:creationId xmlns:p14="http://schemas.microsoft.com/office/powerpoint/2010/main" val="3133046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processus ETL extraient, transforment et chargent les données pour les analyses. L'ELT charge d'abord les données brutes, puis les transforme, utilisant les capacités des systèmes Big Data modernes.
Original Content:
ETL (Extract, Transform, Load)
Les processus ETL (Extract, Transform, Load) permettent d'extraire les données brutes de diverses sources, de les transformer en informations exploitables et de les charger dans les systèmes de stockage appropriés. Ils sont essentiels pour assurer que les données utilisées dans les analyses sont propres, cohérentes et prêtes à être exploitées.
En complément, la méthode ELT (Extract, Load, Transform) est également couramment utilisée dans l'écosystème Big Data. À la différence de l'ETL, le processus ELT charge les données brutes directement dans le système de stockage, et la transformation des données est effectuée après le chargement. Cette approche peut tirer parti des capacités de traitement massif des systèmes Big Data modernes, comme les data warehouses cloud, pour effectuer des transformations complexes et volumineuses plus efficacement.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24</a:t>
            </a:fld>
            <a:endParaRPr lang="fr-FR" noProof="0" dirty="0"/>
          </a:p>
        </p:txBody>
      </p:sp>
    </p:spTree>
    <p:extLst>
      <p:ext uri="{BB962C8B-B14F-4D97-AF65-F5344CB8AC3E}">
        <p14:creationId xmlns:p14="http://schemas.microsoft.com/office/powerpoint/2010/main" val="2361936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analyses en temps réel sont essentielles pour prendre des décisions instantanées basées sur des données actuelles. Elles sont utilisées dans divers secteurs comme le commerce électronique, les services financiers, la santé, les réseaux sociaux et l'IoT pour améliorer les opérations et réduire les risques.
Original Content:
Analyses en temps réel
Les analyses en temps réel jouent un rôle crucial dans l'écosystème Big Data moderne. Elles permettent aux entreprises de prendre des décisions instantanées basées sur des données actuelles, plutôt que de se fier à des rapports historiques. Grâce aux technologies de traitement de flux de données, telles qu'Apache Kafka et Apache Flink, les organisations peuvent ingérer, traiter et analyser des flux continus de données en temps réel.
Par exemple, dans le secteur du commerce électronique, les analyses en temps réel permettent de surveiller les comportements des consommateurs et de proposer des recommandations personnalisées instantanément, améliorant ainsi l'expérience client et augmentant les ventes. Dans le domaine des services financiers, elles sont utilisées pour détecter les fraudes et les transactions suspectes dès qu'elles se produisent, réduisant ainsi les risques et les pertes potentielles.
Cette capacité à réagir rapidement aux événements en cours est également essentielle dans le secteur de la santé, où les analyses en temps réel peuvent aider à surveiller l'état des patients, détecter des anomalies et intervenir rapidement en cas d'urgence. Les réseaux sociaux utilisent cette technologie pour modérer le contenu en direct, détecter les tendances et ajuster les algorithmes pour offrir une expérience utilisateur plus engageante.
L'Internet des objets (IoT) bénéficie également grandement des analyses en temps réel. Les données provenant de capteurs et de dispositifs intelligents peuvent être analysées immédiatement pour optimiser les opérations, effectuer une maintenance prédictive et améliorer l'efficacité des systèmes.
En somme, les analyses en temps réel transforment la manière dont les entreprises interagissent avec leurs données, leur permettant de rester compétitives et de répondre rapidement aux défis et aux opportunités de leur environnement dynamique.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25</a:t>
            </a:fld>
            <a:endParaRPr lang="fr-FR" noProof="0" dirty="0"/>
          </a:p>
        </p:txBody>
      </p:sp>
    </p:spTree>
    <p:extLst>
      <p:ext uri="{BB962C8B-B14F-4D97-AF65-F5344CB8AC3E}">
        <p14:creationId xmlns:p14="http://schemas.microsoft.com/office/powerpoint/2010/main" val="1037388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entrepôts de données intègrent et nettoient les données, offrant performance et accessibilité. Ils conservent des données historiques et soutiennent la prise de décision, l'efficacité et l'analyse avancée.
Original Content:
Fonctionnalités clés des Data Warehouses
·         Intégration des données : Les entrepôts de données collectent des données provenant de diverses sources, telles que les bases de données transactionnelles, les systèmes ERP, les applications CRM et autres systèmes opérationnels. Cette intégration permet de disposer d'une vue unifiée et cohérente de l'ensemble des données de l'entreprise.
·         Qualité des données : Avant d'être chargées dans l'entrepôt, les données sont nettoyées, transformées et validées pour garantir leur exactitude et leur cohérence. Cela inclut la suppression des doublons, la correction des erreurs et l'harmonisation des formats de données.
·         Performance et rapidité : Les entrepôts de données sont optimisés pour offrir des temps de réponse rapides lors des requêtes et des analyses complexes, même sur de très grands ensembles de données. Les technologies modernes, telles que les bases de données en mémoire et les index sophistiqués, contribuent à cette performance.
·         Historique des données : Les entrepôts de données conservent des données historiques, permettant aux entreprises d'analyser les tendances sur de longues périodes. Cette rétention historique est essentielle pour les analyses rétrospectives et prédictives.
·         Accessibilité : Les utilisateurs finaux peuvent accéder aux données de l'entrepôt via des outils de Business Intelligence (BI), des tableaux de bord, des rapports et des interfaces de requêtes. Cela leur permet d'explorer les données et de générer des insights sans nécessiter de compétences techniques approfondies.
Avantages des Data Warehouses
·         Prise de décision éclairée : En fournissant des données consolidées et fiables, les entrepôts de données permettent aux décideurs de prendre des décisions basées sur des informations précises et à jour.
·         Amélioration de l'efficacité : Les entreprises peuvent améliorer leur efficacité opérationnelle en identifiant les goulots d'étranglement, en optimisant les processus et en surveillant les indicateurs de performance clés (KPI).
·         Support pour l'analyse avancée : Les entrepôts de données fournissent une base solide pour l'analyse avancée, y compris le data mining, les modèles prédictifs et l'intelligence artificielle. Cela aide les entreprises à découvrir des modèles cachés et à anticiper les tendances futures.
·         Conformité et reporting : Les entreprises peuvent répondre aux exigences de conformité réglementaire et produire des rapports précis et détaillés grâce à la centralisation et à la gouvernance des données dans les entrepôts de données.
Challenges et perspectives des Data Warehouses
Bien que les avantages des entrepôts de données soient nombreux, leur mise en œuvre et leur gestion posent également des défis. Parmi ceux-ci, on trouve la complexité de l'intégration des données, la gestion des volumes croissants de données, et la nécessité de garantir la sécurité et la confidentialité des informations.
Cependant, les avancées technologiques, telles que les solutions de cloud computing, offrent de nouvelles perspectives pour les entrepôts de données. Les data warehouses cloud permettent une scalabilité quasi illimitée, une flexibilité accrue et des coûts réduits. De plus, l'intégration avec les technologies de Big Data et les outils d'analyse en temps réel renforce encore plus la capacité des entreprises à exploiter pleinement leurs données.
En conclusion, les entrepôts de données restent un pilier fondamental de la stratégie de gestion des données des entreprises, offrant une base solide pour l'analyse et la prise de décision éclairée dans un monde axé sur les données.
Data Warehousing
Les entrepôts de données jouent un rôle essentiel dans la gestion et l'analyse des données dans les entreprises modernes. Un entrepôt de données est un système de stockage centralisé qui permet d'agréger, de conserver et de gérer d'importants volumes de données provenant de multiples sources. Ces données peuvent ensuite être utilisées pour générer des rapports, effectuer des analyses et soutenir la prise de décisions stratégiques.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26</a:t>
            </a:fld>
            <a:endParaRPr lang="fr-FR" noProof="0" dirty="0"/>
          </a:p>
        </p:txBody>
      </p:sp>
    </p:spTree>
    <p:extLst>
      <p:ext uri="{BB962C8B-B14F-4D97-AF65-F5344CB8AC3E}">
        <p14:creationId xmlns:p14="http://schemas.microsoft.com/office/powerpoint/2010/main" val="2748876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data lakes permettent de stocker de grandes quantités de données brutes. Ils sont flexibles pour les analyses avancées mais posent des défis en termes de qualité et de sécurité des données.
Original Content:
Data lakes
Les data lakes sont des systèmes de stockage massifs qui permettent de conserver des quantités énormes de données dans leur format brut et d'origine. Contrairement aux entrepôts de données, qui nécessitent une structuration et une organisation rigoureuses des données avant leur stockage, les data lakes acceptent tout type de données, qu'elles soient structurées, semi-structurées ou non structurées. Cela inclut des fichiers de texte, des images, des vidéos, des flux de données en temps réel, et bien plus encore.
Différences entre data lakes et data warehouses
·         Structure des données : Les data warehouses stockent des données structurées et organisées, prêtes à être utilisées pour l'analyse. En revanche, les data lakes peuvent contenir un mélange de données structurées, semi-structurées et non structurées, sans nécessiter de transformation préalable.
·         Utilisation : Les entrepôts de données sont principalement utilisés pour la BI, la création de rapports et les analyses où les données doivent être facilement accessibles et fiables. Les data lakes, quant à eux, sont idéaux pour les data scientists et les analystes qui nécessitent des données brutes pour des analyses avancées, du machine learning et des projets de big data.
·         Coût : Les data lakes sont souvent plus économiques en termes de stockage, car ils utilisent des technologies de stockage moins chères et sont capables de gérer de grandes quantités de données de manière plus flexible. Cependant, le coût de l'ingestion, de la gestion et de l'extraction des données peut être plus élevé.
·         Vitesse : Les data warehouses sont optimisés pour des requêtes rapides et des temps de réponse courts, ce qui est crucial pour les opérations de reporting et de BI. Les data lakes peuvent nécessiter des temps de traitement plus longs, car les données doivent être préparées et transformées avant utilisation.
·         Scalabilité : Les data lakes bénéficient d'une scalabilité quasi illimitée, particulièrement lorsqu'ils sont déployés dans des environnements de cloud computing. Les data warehouses peuvent également évoluer, mais cela peut être plus coûteux et complexe à gérer.
Bénéfices des data lakes
·         Capacité à stocker de grandes quantités de données hétérogènes.
·         Flexibilité pour les analyses avancées et les applications de machine learning.
·         Scalabilité et coût moindre pour le stockage des données non structurées.
Challenges des data lakes
·         Qualité des données : La diversité et l'énorme volume de données peuvent compliquer la gestion de la qualité.
·         Sécurité des données : Protéger les données sensibles et assurer la conformité réglementaire peuvent poser des défis supplémentaires.
·         Complexité : L'intégration et la gestion des data lakes nécessitent des compétences techniques avancées et une infrastructure adaptée.
En conclusion, tandis que les data warehouses offrent une solution mature et fiable pour des besoins de BI et de reporting, les data lakes ouvrent de nouvelles possibilités pour l'analyse avancée et le traitement des big data. Ils sont complémentaires et souvent utilisés ensemble dans des stratégies de gestion des données modernes pour maximiser la valeur des données d'une entreprise.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27</a:t>
            </a:fld>
            <a:endParaRPr lang="fr-FR" noProof="0" dirty="0"/>
          </a:p>
        </p:txBody>
      </p:sp>
    </p:spTree>
    <p:extLst>
      <p:ext uri="{BB962C8B-B14F-4D97-AF65-F5344CB8AC3E}">
        <p14:creationId xmlns:p14="http://schemas.microsoft.com/office/powerpoint/2010/main" val="15517530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machine learning est crucial dans le Big Data, utilisant des algorithmes avancés pour analyser de grandes quantités de données, découvrir des tendances, prédire des résultats et automatiser des processus. Des plateformes comme Apache Spark MLlib et TensorFlow facilitent cette intégration.
Original Content:
Machine Learning et Big Data
Le machine learning joue un rôle de plus en plus important dans l'écosystème Big Data. En utilisant des algorithmes avancés et des techniques de traitement massif des données, les modèles de machine learning peuvent analyser des volumes énormes de données pour découvrir des tendances, prédire des résultats et automatiser des processus complexes. Des plateformes comme Apache Spark MLlib et TensorFlow sont intégrées avec des solutions Big Data pour permettre aux entreprises de tirer parti des capacités de machine learning à grande échelle.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28</a:t>
            </a:fld>
            <a:endParaRPr lang="fr-FR" noProof="0" dirty="0"/>
          </a:p>
        </p:txBody>
      </p:sp>
    </p:spTree>
    <p:extLst>
      <p:ext uri="{BB962C8B-B14F-4D97-AF65-F5344CB8AC3E}">
        <p14:creationId xmlns:p14="http://schemas.microsoft.com/office/powerpoint/2010/main" val="25272267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bases de données Big Data sont essentielles dans divers secteurs comme la finance, la santé, le commerce de détail et les télécommunications. Elles permettent de gérer des volumes massifs de données, d'analyser des données client, de détecter des fraudes et de surveiller des systèmes pour la maintenance prédictive.
Original Content:
Cas d'utilisation des bases de données Big Data
Les bases de données Big Data sont utilisées dans une variété de secteurs, y compris la finance, la santé, le commerce de détail et les télécommunications. Elles permettent de gérer des volumes massifs de données transactionnelles, d'analyser des données client pour des recommandations personnalisées, de détecter des fraudes en temps réel et de surveiller des systèmes complexes pour la maintenance prédictive. Grâce à leur capacité à traiter et à analyser d'énormes quantités de données rapidement et efficacement, les bases de données Big Data sont devenues des outils indispensables pour les entreprises modernes.
</a:t>
            </a:r>
          </a:p>
        </p:txBody>
      </p:sp>
      <p:sp>
        <p:nvSpPr>
          <p:cNvPr id="4" name="Espace réservé du numéro de diapositive 3"/>
          <p:cNvSpPr>
            <a:spLocks noGrp="1"/>
          </p:cNvSpPr>
          <p:nvPr>
            <p:ph type="sldNum" sz="quarter" idx="5"/>
          </p:nvPr>
        </p:nvSpPr>
        <p:spPr/>
        <p:txBody>
          <a:bodyPr/>
          <a:lstStyle/>
          <a:p>
            <a:pPr rtl="0"/>
            <a:fld id="{8530193B-564F-4854-8A52-728F3FB19C85}" type="slidenum">
              <a:rPr lang="fr-FR" noProof="0" smtClean="0"/>
              <a:t>29</a:t>
            </a:fld>
            <a:endParaRPr lang="fr-FR" noProof="0" dirty="0"/>
          </a:p>
        </p:txBody>
      </p:sp>
    </p:spTree>
    <p:extLst>
      <p:ext uri="{BB962C8B-B14F-4D97-AF65-F5344CB8AC3E}">
        <p14:creationId xmlns:p14="http://schemas.microsoft.com/office/powerpoint/2010/main" val="2384400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bg1">
            <a:lumMod val="95000"/>
          </a:schemeClr>
        </a:solidFill>
        <a:effectLst/>
      </p:bgPr>
    </p:bg>
    <p:spTree>
      <p:nvGrpSpPr>
        <p:cNvPr id="1" name=""/>
        <p:cNvGrpSpPr/>
        <p:nvPr/>
      </p:nvGrpSpPr>
      <p:grpSpPr>
        <a:xfrm>
          <a:off x="0" y="0"/>
          <a:ext cx="0" cy="0"/>
          <a:chOff x="0" y="0"/>
          <a:chExt cx="0" cy="0"/>
        </a:xfrm>
      </p:grpSpPr>
      <p:sp>
        <p:nvSpPr>
          <p:cNvPr id="41" name="Espace réservé d’image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a:t>Insérez ou glissez-déplacez votre photo ici</a:t>
            </a:r>
          </a:p>
        </p:txBody>
      </p:sp>
      <p:sp>
        <p:nvSpPr>
          <p:cNvPr id="2" name="Titr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360000" rIns="252000" bIns="180000" rtlCol="0" anchor="t">
            <a:noAutofit/>
          </a:bodyPr>
          <a:lstStyle>
            <a:lvl1pPr algn="r">
              <a:defRPr lang="en-ZA" sz="4000" b="1" spc="-300" dirty="0"/>
            </a:lvl1pPr>
          </a:lstStyle>
          <a:p>
            <a:pPr lvl="0" algn="r" rtl="0"/>
            <a:r>
              <a:rPr lang="fr-FR" noProof="0" dirty="0"/>
              <a:t>Cliquez pour modifier le titre de la présentation</a:t>
            </a:r>
          </a:p>
        </p:txBody>
      </p:sp>
      <p:sp>
        <p:nvSpPr>
          <p:cNvPr id="3" name="Sous-titr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rtl="0"/>
            <a:r>
              <a:rPr lang="fr-FR" noProof="0"/>
              <a:t>Modifiez le style des sous-titres du masque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e de séparation 1">
    <p:bg>
      <p:bgPr>
        <a:solidFill>
          <a:schemeClr val="bg1">
            <a:lumMod val="95000"/>
          </a:schemeClr>
        </a:solidFill>
        <a:effectLst/>
      </p:bgPr>
    </p:bg>
    <p:spTree>
      <p:nvGrpSpPr>
        <p:cNvPr id="1" name=""/>
        <p:cNvGrpSpPr/>
        <p:nvPr/>
      </p:nvGrpSpPr>
      <p:grpSpPr>
        <a:xfrm>
          <a:off x="0" y="0"/>
          <a:ext cx="0" cy="0"/>
          <a:chOff x="0" y="0"/>
          <a:chExt cx="0" cy="0"/>
        </a:xfrm>
      </p:grpSpPr>
      <p:sp>
        <p:nvSpPr>
          <p:cNvPr id="41" name="Espace réservé d’image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dirty="0"/>
              <a:t>Insérez ou glissez-déplacez </a:t>
            </a:r>
            <a:br>
              <a:rPr lang="fr-FR" noProof="0" dirty="0"/>
            </a:br>
            <a:r>
              <a:rPr lang="fr-FR" noProof="0" dirty="0"/>
              <a:t>votre photo ici</a:t>
            </a:r>
          </a:p>
        </p:txBody>
      </p:sp>
      <p:sp>
        <p:nvSpPr>
          <p:cNvPr id="2" name="Titr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324000" rIns="252000" bIns="180000" rtlCol="0" anchor="t">
            <a:noAutofit/>
          </a:bodyPr>
          <a:lstStyle>
            <a:lvl1pPr algn="r">
              <a:defRPr lang="en-ZA" sz="4800" b="1" spc="-300" dirty="0"/>
            </a:lvl1pPr>
          </a:lstStyle>
          <a:p>
            <a:pPr lvl="0" algn="r" rtl="0"/>
            <a:r>
              <a:rPr lang="fr-FR" noProof="0" dirty="0"/>
              <a:t>Cliquez pour modifier le séparateur de section</a:t>
            </a:r>
          </a:p>
        </p:txBody>
      </p:sp>
      <p:sp>
        <p:nvSpPr>
          <p:cNvPr id="7" name="Sous-titr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rtlCol="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rtl="0"/>
            <a:r>
              <a:rPr lang="fr-FR" noProof="0"/>
              <a:t>Modifiez le style des sous-titres du masque</a:t>
            </a:r>
          </a:p>
        </p:txBody>
      </p:sp>
      <p:sp>
        <p:nvSpPr>
          <p:cNvPr id="4" name="Espace réservé du pied de page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fr-FR" noProof="0"/>
              <a:t>Ajouter un pied de page</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 name="Espace réservé du numéro de diapositive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séparation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Espace réservé d’image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dirty="0"/>
              <a:t>Insérez ou glissez-déplacez </a:t>
            </a:r>
            <a:br>
              <a:rPr lang="fr-FR" noProof="0" dirty="0"/>
            </a:br>
            <a:r>
              <a:rPr lang="fr-FR" noProof="0" dirty="0"/>
              <a:t>votre photo ici</a:t>
            </a:r>
          </a:p>
        </p:txBody>
      </p:sp>
      <p:sp>
        <p:nvSpPr>
          <p:cNvPr id="3" name="Titr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rtlCol="0"/>
          <a:lstStyle>
            <a:lvl1pPr>
              <a:defRPr sz="4800" b="1" spc="-300">
                <a:solidFill>
                  <a:schemeClr val="tx1">
                    <a:lumMod val="75000"/>
                    <a:lumOff val="25000"/>
                  </a:schemeClr>
                </a:solidFill>
                <a:latin typeface="+mj-lt"/>
              </a:defRPr>
            </a:lvl1pPr>
          </a:lstStyle>
          <a:p>
            <a:pPr rtl="0"/>
            <a:r>
              <a:rPr lang="fr-FR" noProof="0" dirty="0"/>
              <a:t>Cliquez pour modifier le séparateur de section</a:t>
            </a:r>
          </a:p>
        </p:txBody>
      </p:sp>
      <p:sp>
        <p:nvSpPr>
          <p:cNvPr id="7" name="Sous-titr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rtlCol="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rtl="0"/>
            <a:r>
              <a:rPr lang="fr-FR" noProof="0" dirty="0"/>
              <a:t>Modifiez le style des sous-titres du masque</a:t>
            </a:r>
          </a:p>
        </p:txBody>
      </p:sp>
      <p:sp>
        <p:nvSpPr>
          <p:cNvPr id="4" name="Espace réservé du pied de page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fr-FR" noProof="0"/>
              <a:t>Ajouter un pied de page</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fr-FR" noProof="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 name="Espace réservé du numéro de diapositive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fr-FR" noProof="0" smtClean="0"/>
              <a:pPr rtl="0"/>
              <a:t>‹N°›</a:t>
            </a:fld>
            <a:endParaRPr lang="fr-FR"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position Texte Image 1">
    <p:spTree>
      <p:nvGrpSpPr>
        <p:cNvPr id="1" name=""/>
        <p:cNvGrpSpPr/>
        <p:nvPr/>
      </p:nvGrpSpPr>
      <p:grpSpPr>
        <a:xfrm>
          <a:off x="0" y="0"/>
          <a:ext cx="0" cy="0"/>
          <a:chOff x="0" y="0"/>
          <a:chExt cx="0" cy="0"/>
        </a:xfrm>
      </p:grpSpPr>
      <p:sp>
        <p:nvSpPr>
          <p:cNvPr id="7" name="Espace réservé d’image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dirty="0"/>
              <a:t>Insérez ou glissez-déplacez votre photo</a:t>
            </a:r>
          </a:p>
        </p:txBody>
      </p:sp>
      <p:sp>
        <p:nvSpPr>
          <p:cNvPr id="2" name="Titr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rtlCol="0"/>
          <a:lstStyle>
            <a:lvl1pPr algn="r">
              <a:defRPr sz="3600" b="1" spc="-300">
                <a:solidFill>
                  <a:schemeClr val="tx1">
                    <a:lumMod val="75000"/>
                    <a:lumOff val="25000"/>
                  </a:schemeClr>
                </a:solidFill>
              </a:defRPr>
            </a:lvl1pPr>
          </a:lstStyle>
          <a:p>
            <a:pPr rtl="0"/>
            <a:r>
              <a:rPr lang="fr-FR" noProof="0" dirty="0"/>
              <a:t>Modifier le titre de la page</a:t>
            </a:r>
          </a:p>
        </p:txBody>
      </p:sp>
      <p:sp>
        <p:nvSpPr>
          <p:cNvPr id="10" name="Sous-titr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rtlCol="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2668686"/>
            <a:ext cx="5472000" cy="2999426"/>
          </a:xfrm>
        </p:spPr>
        <p:txBody>
          <a:bodyPr rtlCol="0"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fr-FR" noProof="0"/>
              <a:t>Ajouter un pied de page</a:t>
            </a:r>
          </a:p>
        </p:txBody>
      </p:sp>
      <p:sp>
        <p:nvSpPr>
          <p:cNvPr id="5" name="Espace réservé du numéro de diapositive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fr-FR" noProof="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Image du texte 2">
    <p:spTree>
      <p:nvGrpSpPr>
        <p:cNvPr id="1" name=""/>
        <p:cNvGrpSpPr/>
        <p:nvPr/>
      </p:nvGrpSpPr>
      <p:grpSpPr>
        <a:xfrm>
          <a:off x="0" y="0"/>
          <a:ext cx="0" cy="0"/>
          <a:chOff x="0" y="0"/>
          <a:chExt cx="0" cy="0"/>
        </a:xfrm>
      </p:grpSpPr>
      <p:sp>
        <p:nvSpPr>
          <p:cNvPr id="7" name="Espace réservé d’image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a:t>Insérez ou glissez-déplacez votre photo</a:t>
            </a:r>
          </a:p>
        </p:txBody>
      </p:sp>
      <p:sp>
        <p:nvSpPr>
          <p:cNvPr id="2" name="Titr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rtlCol="0"/>
          <a:lstStyle>
            <a:lvl1pPr algn="l">
              <a:defRPr sz="4800" b="1" spc="-300">
                <a:solidFill>
                  <a:schemeClr val="tx1">
                    <a:lumMod val="75000"/>
                    <a:lumOff val="25000"/>
                  </a:schemeClr>
                </a:solidFill>
              </a:defRPr>
            </a:lvl1pPr>
          </a:lstStyle>
          <a:p>
            <a:pPr rtl="0"/>
            <a:r>
              <a:rPr lang="fr-FR" noProof="0" dirty="0"/>
              <a:t>Cliquez pour modifier le titre de la page</a:t>
            </a:r>
          </a:p>
        </p:txBody>
      </p:sp>
      <p:sp>
        <p:nvSpPr>
          <p:cNvPr id="10" name="Sous-titr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rtlCol="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288000" y="3763648"/>
            <a:ext cx="5472000" cy="2428351"/>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fr-FR" noProof="0"/>
              <a:t>Ajouter un pied de page</a:t>
            </a:r>
          </a:p>
        </p:txBody>
      </p:sp>
      <p:sp>
        <p:nvSpPr>
          <p:cNvPr id="5" name="Espace réservé du numéro de diapositive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fr-FR" noProof="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9" name="Sous-titr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e comparaison gauche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e comparaison gauche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300000" y="1516359"/>
            <a:ext cx="5472000" cy="358775"/>
          </a:xfrm>
        </p:spPr>
        <p:txBody>
          <a:bodyPr rtlCol="0"/>
          <a:lstStyle>
            <a:lvl1pPr marL="0" indent="0">
              <a:buNone/>
              <a:defRPr sz="2400" b="1"/>
            </a:lvl1pPr>
          </a:lstStyle>
          <a:p>
            <a:pPr lvl="0" rtl="0"/>
            <a:r>
              <a:rPr lang="fr-FR" noProof="0"/>
              <a:t>Modifiez les styles du texte du masque</a:t>
            </a:r>
          </a:p>
        </p:txBody>
      </p:sp>
      <p:sp>
        <p:nvSpPr>
          <p:cNvPr id="8" name="Espace réservé du texte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99887" y="2020359"/>
            <a:ext cx="5472113" cy="4170891"/>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pied de page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fr-FR" noProof="0"/>
              <a:t>Ajouter un pied de page</a:t>
            </a:r>
          </a:p>
        </p:txBody>
      </p:sp>
      <p:sp>
        <p:nvSpPr>
          <p:cNvPr id="6" name="Espace réservé du numéro de diapositive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nde photo">
    <p:spTree>
      <p:nvGrpSpPr>
        <p:cNvPr id="1" name=""/>
        <p:cNvGrpSpPr/>
        <p:nvPr/>
      </p:nvGrpSpPr>
      <p:grpSpPr>
        <a:xfrm>
          <a:off x="0" y="0"/>
          <a:ext cx="0" cy="0"/>
          <a:chOff x="0" y="0"/>
          <a:chExt cx="0" cy="0"/>
        </a:xfrm>
      </p:grpSpPr>
      <p:sp>
        <p:nvSpPr>
          <p:cNvPr id="7" name="Espace réservé d’image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a:t>Insérez ou glissez-déplacez votre photo</a:t>
            </a:r>
          </a:p>
        </p:txBody>
      </p:sp>
      <p:sp>
        <p:nvSpPr>
          <p:cNvPr id="3" name="Espace réservé du contenu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rtlCol="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Entrez votre légende</a:t>
            </a:r>
          </a:p>
        </p:txBody>
      </p:sp>
      <p:sp>
        <p:nvSpPr>
          <p:cNvPr id="4" name="Espace réservé du pied de page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fr-FR" noProof="0"/>
              <a:t>Ajouter un pied de page</a:t>
            </a:r>
          </a:p>
        </p:txBody>
      </p:sp>
      <p:sp>
        <p:nvSpPr>
          <p:cNvPr id="2" name="Espace réservé du numéro de diapositive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fr-FR" noProof="0" smtClean="0"/>
              <a:pPr rtl="0"/>
              <a:t>‹N°›</a:t>
            </a:fld>
            <a:endParaRPr lang="fr-FR" noProof="0"/>
          </a:p>
        </p:txBody>
      </p:sp>
      <p:sp>
        <p:nvSpPr>
          <p:cNvPr id="5" name="Titre 4">
            <a:extLst>
              <a:ext uri="{FF2B5EF4-FFF2-40B4-BE49-F238E27FC236}">
                <a16:creationId xmlns:a16="http://schemas.microsoft.com/office/drawing/2014/main" id="{7F8E7C83-06D7-4C5B-85B7-0E5713B4FAB3}"/>
              </a:ext>
            </a:extLst>
          </p:cNvPr>
          <p:cNvSpPr>
            <a:spLocks noGrp="1"/>
          </p:cNvSpPr>
          <p:nvPr>
            <p:ph type="title"/>
          </p:nvPr>
        </p:nvSpPr>
        <p:spPr/>
        <p:txBody>
          <a:bodyPr rtlCol="0"/>
          <a:lstStyle/>
          <a:p>
            <a:pPr rtl="0"/>
            <a:r>
              <a:rPr lang="fr-FR" noProof="0"/>
              <a:t>Modifiez le style du titre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erci de votre attention">
    <p:bg>
      <p:bgPr>
        <a:solidFill>
          <a:schemeClr val="bg1">
            <a:lumMod val="95000"/>
          </a:schemeClr>
        </a:solidFill>
        <a:effectLst/>
      </p:bgPr>
    </p:bg>
    <p:spTree>
      <p:nvGrpSpPr>
        <p:cNvPr id="1" name=""/>
        <p:cNvGrpSpPr/>
        <p:nvPr/>
      </p:nvGrpSpPr>
      <p:grpSpPr>
        <a:xfrm>
          <a:off x="0" y="0"/>
          <a:ext cx="0" cy="0"/>
          <a:chOff x="0" y="0"/>
          <a:chExt cx="0" cy="0"/>
        </a:xfrm>
      </p:grpSpPr>
      <p:sp>
        <p:nvSpPr>
          <p:cNvPr id="41" name="Espace réservé d’image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fr-FR" noProof="0" dirty="0"/>
              <a:t>Insérez ou glissez-déplacez votre photo ici</a:t>
            </a:r>
          </a:p>
        </p:txBody>
      </p:sp>
      <p:sp>
        <p:nvSpPr>
          <p:cNvPr id="2" name="Titr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08000" tIns="108000" rIns="252000" bIns="180000" rtlCol="0" anchor="t">
            <a:noAutofit/>
          </a:bodyPr>
          <a:lstStyle>
            <a:lvl1pPr algn="r">
              <a:lnSpc>
                <a:spcPct val="70000"/>
              </a:lnSpc>
              <a:defRPr lang="en-ZA" sz="4000" b="1" spc="-300" dirty="0"/>
            </a:lvl1pPr>
          </a:lstStyle>
          <a:p>
            <a:pPr lvl="0" algn="r" rtl="0"/>
            <a:r>
              <a:rPr lang="fr-FR" noProof="0" dirty="0"/>
              <a:t>Merci de votre attention</a:t>
            </a:r>
          </a:p>
        </p:txBody>
      </p:sp>
      <p:sp>
        <p:nvSpPr>
          <p:cNvPr id="9" name="Espace réservé du texte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rtlCol="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Nom complet</a:t>
            </a:r>
          </a:p>
        </p:txBody>
      </p:sp>
      <p:sp>
        <p:nvSpPr>
          <p:cNvPr id="10" name="Espace réservé du texte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rtlCol="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Numéro de téléphone</a:t>
            </a:r>
          </a:p>
        </p:txBody>
      </p:sp>
      <p:sp>
        <p:nvSpPr>
          <p:cNvPr id="11" name="Espace réservé du texte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rtlCol="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Poignée E-mail ou Réseaux sociaux</a:t>
            </a:r>
          </a:p>
        </p:txBody>
      </p:sp>
      <p:sp>
        <p:nvSpPr>
          <p:cNvPr id="12" name="Espace réservé du texte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rtlCol="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Site web de l’entreprise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 name="Espace réservé du numéro de diapositive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7" name="Sous-titr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B1948E38-8FB0-4E51-A01C-C88794372E50}"/>
              </a:ext>
            </a:extLst>
          </p:cNvPr>
          <p:cNvSpPr>
            <a:spLocks noGrp="1"/>
          </p:cNvSpPr>
          <p:nvPr>
            <p:ph idx="1" hasCustomPrompt="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fr-FR" noProof="0"/>
              <a:t>Ajouter un pied de page</a:t>
            </a:r>
          </a:p>
        </p:txBody>
      </p:sp>
      <p:sp>
        <p:nvSpPr>
          <p:cNvPr id="5" name="Espace réservé du numéro de diapositive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7" name="Sous-titr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texte 4">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99887" y="1511250"/>
            <a:ext cx="5472113" cy="468000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fr-FR" noProof="0"/>
              <a:t>Ajouter un pied de page</a:t>
            </a:r>
          </a:p>
        </p:txBody>
      </p:sp>
      <p:sp>
        <p:nvSpPr>
          <p:cNvPr id="5" name="Espace réservé du numéro de diapositive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9" name="Sous-titr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4301550" y="1511476"/>
            <a:ext cx="3600450" cy="4679249"/>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1" name="Espace réservé du texte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8171550" y="1511475"/>
            <a:ext cx="3600450" cy="467925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fr-FR" noProof="0"/>
              <a:t>Ajouter un pied de page</a:t>
            </a:r>
          </a:p>
        </p:txBody>
      </p:sp>
      <p:sp>
        <p:nvSpPr>
          <p:cNvPr id="6" name="Espace réservé du numéro de diapositive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10" name="Sous-titr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contenu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726412" y="1512000"/>
            <a:ext cx="2160588" cy="467925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3" name="Espace réservé du texte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5021412" y="1512000"/>
            <a:ext cx="2160588" cy="467925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texte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7316412" y="1507535"/>
            <a:ext cx="2160588" cy="467925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7" name="Espace réservé du texte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9611412" y="1507535"/>
            <a:ext cx="2160588" cy="4683715"/>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pied de page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fr-FR" noProof="0"/>
              <a:t>Ajouter un pied de page</a:t>
            </a:r>
          </a:p>
        </p:txBody>
      </p:sp>
      <p:sp>
        <p:nvSpPr>
          <p:cNvPr id="6" name="Espace réservé du numéro de diapositive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fr-FR" noProof="0"/>
              <a:t>Cliquez pour modifier le titre de la page</a:t>
            </a:r>
          </a:p>
        </p:txBody>
      </p:sp>
      <p:sp>
        <p:nvSpPr>
          <p:cNvPr id="5" name="Sous-titr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fr-FR" noProof="0"/>
              <a:t>Sous-titre</a:t>
            </a:r>
          </a:p>
        </p:txBody>
      </p:sp>
      <p:sp>
        <p:nvSpPr>
          <p:cNvPr id="3" name="Espace réservé du pied de page 2">
            <a:extLst>
              <a:ext uri="{FF2B5EF4-FFF2-40B4-BE49-F238E27FC236}">
                <a16:creationId xmlns:a16="http://schemas.microsoft.com/office/drawing/2014/main" id="{08CCB8C2-B6A2-4C69-8D3A-57420A034BA4}"/>
              </a:ext>
            </a:extLst>
          </p:cNvPr>
          <p:cNvSpPr>
            <a:spLocks noGrp="1"/>
          </p:cNvSpPr>
          <p:nvPr>
            <p:ph type="ftr" sz="quarter" idx="12"/>
          </p:nvPr>
        </p:nvSpPr>
        <p:spPr/>
        <p:txBody>
          <a:bodyPr rtlCol="0"/>
          <a:lstStyle/>
          <a:p>
            <a:pPr rtl="0"/>
            <a:r>
              <a:rPr lang="fr-FR" noProof="0"/>
              <a:t>Ajouter un pied de page</a:t>
            </a:r>
          </a:p>
        </p:txBody>
      </p:sp>
      <p:sp>
        <p:nvSpPr>
          <p:cNvPr id="4" name="Espace réservé du numéro de diapositive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rtlCol="0"/>
          <a:lstStyle/>
          <a:p>
            <a:pPr rtl="0"/>
            <a:fld id="{19B51A1E-902D-48AF-9020-955120F399B6}" type="slidenum">
              <a:rPr lang="fr-FR" noProof="0" smtClean="0"/>
              <a:pPr rtl="0"/>
              <a:t>‹N°›</a:t>
            </a:fld>
            <a:endParaRPr lang="fr-FR" noProof="0"/>
          </a:p>
        </p:txBody>
      </p:sp>
    </p:spTree>
    <p:extLst>
      <p:ext uri="{BB962C8B-B14F-4D97-AF65-F5344CB8AC3E}">
        <p14:creationId xmlns:p14="http://schemas.microsoft.com/office/powerpoint/2010/main" val="150585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fr-FR" noProof="0"/>
              <a:t>Ajouter un pied de page</a:t>
            </a:r>
          </a:p>
        </p:txBody>
      </p:sp>
      <p:sp>
        <p:nvSpPr>
          <p:cNvPr id="3" name="Espace réservé du numéro de diapositive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rtlCol="0"/>
          <a:lstStyle/>
          <a:p>
            <a:pPr rtl="0"/>
            <a:fld id="{19B51A1E-902D-48AF-9020-955120F399B6}" type="slidenum">
              <a:rPr lang="fr-FR" noProof="0" smtClean="0"/>
              <a:pPr rtl="0"/>
              <a:t>‹N°›</a:t>
            </a:fld>
            <a:endParaRPr lang="fr-FR" noProof="0"/>
          </a:p>
        </p:txBody>
      </p:sp>
      <p:sp>
        <p:nvSpPr>
          <p:cNvPr id="4" name="Titre 3">
            <a:extLst>
              <a:ext uri="{FF2B5EF4-FFF2-40B4-BE49-F238E27FC236}">
                <a16:creationId xmlns:a16="http://schemas.microsoft.com/office/drawing/2014/main" id="{90694D9D-C633-4D52-965E-E5BBD9883037}"/>
              </a:ext>
            </a:extLst>
          </p:cNvPr>
          <p:cNvSpPr>
            <a:spLocks noGrp="1"/>
          </p:cNvSpPr>
          <p:nvPr>
            <p:ph type="title"/>
          </p:nvPr>
        </p:nvSpPr>
        <p:spPr/>
        <p:txBody>
          <a:bodyPr rtlCol="0"/>
          <a:lstStyle/>
          <a:p>
            <a:pPr rtl="0"/>
            <a:r>
              <a:rPr lang="fr-FR" noProof="0"/>
              <a:t>Modifiez le style du titre</a:t>
            </a:r>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8" name="Rectangle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31" name="Forme libre : Forme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Espace réservé du titre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fr-FR" noProof="0"/>
              <a:t>Cliquez pour modifier le titre de la page</a:t>
            </a:r>
          </a:p>
        </p:txBody>
      </p:sp>
      <p:sp>
        <p:nvSpPr>
          <p:cNvPr id="3" name="Espace réservé du texte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pied de page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fr-FR" noProof="0"/>
              <a:t>Ajouter un pied de page</a:t>
            </a:r>
          </a:p>
        </p:txBody>
      </p:sp>
      <p:sp>
        <p:nvSpPr>
          <p:cNvPr id="6" name="Espace réservé du numéro de diapositive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fr-FR" noProof="0" smtClean="0"/>
              <a:pPr rtl="0"/>
              <a:t>‹N°›</a:t>
            </a:fld>
            <a:endParaRPr lang="fr-FR" noProof="0"/>
          </a:p>
        </p:txBody>
      </p:sp>
      <p:sp>
        <p:nvSpPr>
          <p:cNvPr id="4" name="Zone de texte 3">
            <a:extLst>
              <a:ext uri="{FF2B5EF4-FFF2-40B4-BE49-F238E27FC236}">
                <a16:creationId xmlns:a16="http://schemas.microsoft.com/office/drawing/2014/main" id="{34FDC6F9-37F9-4E25-AECA-D307B8421C73}"/>
              </a:ext>
            </a:extLst>
          </p:cNvPr>
          <p:cNvSpPr txBox="1"/>
          <p:nvPr userDrawn="1"/>
        </p:nvSpPr>
        <p:spPr>
          <a:xfrm>
            <a:off x="10243100" y="6430153"/>
            <a:ext cx="1053900" cy="365535"/>
          </a:xfrm>
          <a:prstGeom prst="rect">
            <a:avLst/>
          </a:prstGeom>
          <a:noFill/>
        </p:spPr>
        <p:txBody>
          <a:bodyPr wrap="square" tIns="108000" bIns="0" rtlCol="0" anchor="ctr">
            <a:spAutoFit/>
          </a:bodyPr>
          <a:lstStyle/>
          <a:p>
            <a:pPr algn="r" rtl="0">
              <a:lnSpc>
                <a:spcPts val="1000"/>
              </a:lnSpc>
            </a:pPr>
            <a:r>
              <a:rPr lang="fr-FR" sz="2500" b="1" i="0" spc="-100" noProof="0">
                <a:solidFill>
                  <a:schemeClr val="accent1"/>
                </a:solidFill>
                <a:latin typeface="+mj-lt"/>
              </a:rPr>
              <a:t>TREY</a:t>
            </a:r>
            <a:r>
              <a:rPr lang="fr-FR" sz="1600" b="1" i="0" spc="-100" noProof="0">
                <a:solidFill>
                  <a:schemeClr val="accent1"/>
                </a:solidFill>
                <a:latin typeface="+mj-lt"/>
              </a:rPr>
              <a:t> </a:t>
            </a:r>
            <a:br>
              <a:rPr lang="fr-FR" sz="1600" b="1" i="0" spc="-100" baseline="0" noProof="0">
                <a:solidFill>
                  <a:schemeClr val="accent1"/>
                </a:solidFill>
                <a:latin typeface="+mj-lt"/>
              </a:rPr>
            </a:br>
            <a:r>
              <a:rPr lang="fr-FR" sz="1200" b="0" i="0" spc="140" noProof="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9" name="Rectangle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8" name="Connecteur droit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54" r:id="rId13"/>
    <p:sldLayoutId id="2147483655" r:id="rId14"/>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E1531A9F-AFCA-FD73-2946-5B6ED180C904}"/>
              </a:ext>
            </a:extLst>
          </p:cNvPr>
          <p:cNvSpPr>
            <a:spLocks noGrp="1"/>
          </p:cNvSpPr>
          <p:nvPr>
            <p:ph type="pic" sz="quarter" idx="10"/>
          </p:nvPr>
        </p:nvSpPr>
        <p:spPr>
          <a:xfrm>
            <a:off x="2411412" y="0"/>
            <a:ext cx="9780588" cy="6371351"/>
          </a:xfrm>
        </p:spPr>
        <p:txBody>
          <a:bodyPr/>
          <a:lstStyle/>
          <a:p>
            <a:endParaRPr lang="fr-FR"/>
          </a:p>
        </p:txBody>
      </p:sp>
      <p:sp>
        <p:nvSpPr>
          <p:cNvPr id="3" name="Titre 2">
            <a:extLst>
              <a:ext uri="{FF2B5EF4-FFF2-40B4-BE49-F238E27FC236}">
                <a16:creationId xmlns:a16="http://schemas.microsoft.com/office/drawing/2014/main" id="{A22295F5-95F3-70BE-228A-EFA3A22820D5}"/>
              </a:ext>
            </a:extLst>
          </p:cNvPr>
          <p:cNvSpPr>
            <a:spLocks noGrp="1"/>
          </p:cNvSpPr>
          <p:nvPr>
            <p:ph type="title"/>
          </p:nvPr>
        </p:nvSpPr>
        <p:spPr>
          <a:xfrm>
            <a:off x="-1700" y="2156226"/>
            <a:ext cx="5958000" cy="1958400"/>
          </a:xfrm>
        </p:spPr>
        <p:txBody>
          <a:bodyPr anchor="ctr">
            <a:normAutofit/>
          </a:bodyPr>
          <a:lstStyle/>
          <a:p>
            <a:r>
              <a:rPr lang="fr-FR"/>
              <a:t>Bases de données Big Data</a:t>
            </a:r>
          </a:p>
        </p:txBody>
      </p:sp>
      <p:sp>
        <p:nvSpPr>
          <p:cNvPr id="10" name="Text Placeholder 3">
            <a:extLst>
              <a:ext uri="{FF2B5EF4-FFF2-40B4-BE49-F238E27FC236}">
                <a16:creationId xmlns:a16="http://schemas.microsoft.com/office/drawing/2014/main" id="{266D1C70-1885-5DE5-33E5-2DFCB01F325A}"/>
              </a:ext>
            </a:extLst>
          </p:cNvPr>
          <p:cNvSpPr>
            <a:spLocks noGrp="1"/>
          </p:cNvSpPr>
          <p:nvPr>
            <p:ph type="body" sz="quarter" idx="13"/>
          </p:nvPr>
        </p:nvSpPr>
        <p:spPr>
          <a:xfrm>
            <a:off x="0" y="4110760"/>
            <a:ext cx="5956300" cy="1100565"/>
          </a:xfrm>
        </p:spPr>
        <p:txBody>
          <a:bodyPr/>
          <a:lstStyle/>
          <a:p>
            <a:r>
              <a:rPr lang="en-US" sz="3600" dirty="0"/>
              <a:t>Thierry Boulanger</a:t>
            </a:r>
            <a:br>
              <a:rPr lang="en-US" sz="3600" dirty="0"/>
            </a:br>
            <a:r>
              <a:rPr lang="en-US" sz="3600" dirty="0"/>
              <a:t>Capgemini</a:t>
            </a:r>
          </a:p>
        </p:txBody>
      </p:sp>
      <p:sp>
        <p:nvSpPr>
          <p:cNvPr id="12" name="Footer Placeholder 4">
            <a:extLst>
              <a:ext uri="{FF2B5EF4-FFF2-40B4-BE49-F238E27FC236}">
                <a16:creationId xmlns:a16="http://schemas.microsoft.com/office/drawing/2014/main" id="{62C0C96C-A662-0B1C-3906-CC5BA8866B22}"/>
              </a:ext>
            </a:extLst>
          </p:cNvPr>
          <p:cNvSpPr>
            <a:spLocks noGrp="1"/>
          </p:cNvSpPr>
          <p:nvPr>
            <p:ph type="ftr" sz="quarter" idx="11"/>
          </p:nvPr>
        </p:nvSpPr>
        <p:spPr>
          <a:xfrm>
            <a:off x="432000" y="6439820"/>
            <a:ext cx="5664000" cy="295062"/>
          </a:xfrm>
        </p:spPr>
        <p:txBody>
          <a:bodyPr/>
          <a:lstStyle/>
          <a:p>
            <a:pPr rtl="0">
              <a:spcAft>
                <a:spcPts val="600"/>
              </a:spcAft>
            </a:pPr>
            <a:r>
              <a:rPr lang="fr-FR" noProof="0"/>
              <a:t>Ajouter un pied de page</a:t>
            </a:r>
          </a:p>
        </p:txBody>
      </p:sp>
      <p:sp>
        <p:nvSpPr>
          <p:cNvPr id="14" name="Slide Number Placeholder 5">
            <a:extLst>
              <a:ext uri="{FF2B5EF4-FFF2-40B4-BE49-F238E27FC236}">
                <a16:creationId xmlns:a16="http://schemas.microsoft.com/office/drawing/2014/main" id="{6E8881F2-8061-0F24-8C83-85A7646E4F12}"/>
              </a:ext>
            </a:extLst>
          </p:cNvPr>
          <p:cNvSpPr>
            <a:spLocks noGrp="1"/>
          </p:cNvSpPr>
          <p:nvPr>
            <p:ph type="sldNum" sz="quarter" idx="12"/>
          </p:nvPr>
        </p:nvSpPr>
        <p:spPr>
          <a:xfrm>
            <a:off x="11760000" y="6371351"/>
            <a:ext cx="432000" cy="432000"/>
          </a:xfrm>
        </p:spPr>
        <p:txBody>
          <a:bodyPr/>
          <a:lstStyle/>
          <a:p>
            <a:pPr rtl="0">
              <a:spcAft>
                <a:spcPts val="600"/>
              </a:spcAft>
            </a:pPr>
            <a:fld id="{19B51A1E-902D-48AF-9020-955120F399B6}" type="slidenum">
              <a:rPr lang="fr-FR" noProof="0" smtClean="0"/>
              <a:pPr rtl="0">
                <a:spcAft>
                  <a:spcPts val="600"/>
                </a:spcAft>
              </a:pPr>
              <a:t>1</a:t>
            </a:fld>
            <a:endParaRPr lang="fr-FR" noProof="0"/>
          </a:p>
        </p:txBody>
      </p:sp>
    </p:spTree>
    <p:extLst>
      <p:ext uri="{BB962C8B-B14F-4D97-AF65-F5344CB8AC3E}">
        <p14:creationId xmlns:p14="http://schemas.microsoft.com/office/powerpoint/2010/main" val="135906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0DF37841-E7AD-0B2B-D2F7-C7A3C1959B6E}"/>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EE42E2EC-186B-CD62-1FB5-BDF33229879A}"/>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a:t>
            </a:fld>
            <a:endParaRPr lang="fr-FR" noProof="0"/>
          </a:p>
        </p:txBody>
      </p:sp>
      <p:sp>
        <p:nvSpPr>
          <p:cNvPr id="3" name="Titre 2">
            <a:extLst>
              <a:ext uri="{FF2B5EF4-FFF2-40B4-BE49-F238E27FC236}">
                <a16:creationId xmlns:a16="http://schemas.microsoft.com/office/drawing/2014/main" id="{4B9610FE-A6B7-453E-874C-20B29F806A4A}"/>
              </a:ext>
            </a:extLst>
          </p:cNvPr>
          <p:cNvSpPr>
            <a:spLocks noGrp="1"/>
          </p:cNvSpPr>
          <p:nvPr>
            <p:ph type="title"/>
          </p:nvPr>
        </p:nvSpPr>
        <p:spPr>
          <a:xfrm>
            <a:off x="432000" y="432000"/>
            <a:ext cx="11328000" cy="432000"/>
          </a:xfrm>
        </p:spPr>
        <p:txBody>
          <a:bodyPr anchor="ctr">
            <a:normAutofit/>
          </a:bodyPr>
          <a:lstStyle/>
          <a:p>
            <a:r>
              <a:rPr lang="fr-FR" sz="3000"/>
              <a:t>Ordre du jour</a:t>
            </a:r>
          </a:p>
        </p:txBody>
      </p:sp>
      <p:sp>
        <p:nvSpPr>
          <p:cNvPr id="5" name="Espace réservé du contenu 4">
            <a:extLst>
              <a:ext uri="{FF2B5EF4-FFF2-40B4-BE49-F238E27FC236}">
                <a16:creationId xmlns:a16="http://schemas.microsoft.com/office/drawing/2014/main" id="{1F18D0D7-7D35-D022-5338-61431BFB5640}"/>
              </a:ext>
            </a:extLst>
          </p:cNvPr>
          <p:cNvSpPr>
            <a:spLocks noGrp="1"/>
          </p:cNvSpPr>
          <p:nvPr>
            <p:ph sz="half" idx="4294967295"/>
          </p:nvPr>
        </p:nvSpPr>
        <p:spPr>
          <a:xfrm>
            <a:off x="432000" y="1054500"/>
            <a:ext cx="11328000" cy="4352544"/>
          </a:xfrm>
        </p:spPr>
        <p:txBody>
          <a:bodyPr anchor="t">
            <a:normAutofit/>
          </a:bodyPr>
          <a:lstStyle/>
          <a:p>
            <a:pPr marL="0"/>
            <a:r>
              <a:rPr lang="en-US" kern="1200"/>
              <a:t>Introduction</a:t>
            </a:r>
          </a:p>
          <a:p>
            <a:pPr marL="0"/>
            <a:r>
              <a:rPr lang="en-US" kern="1200"/>
              <a:t>Types de données</a:t>
            </a:r>
          </a:p>
          <a:p>
            <a:pPr marL="0"/>
            <a:r>
              <a:rPr lang="en-US" kern="1200"/>
              <a:t>Concepts fondamentaux du Big Data</a:t>
            </a:r>
          </a:p>
          <a:p>
            <a:pPr marL="0"/>
            <a:r>
              <a:rPr lang="en-US" kern="1200"/>
              <a:t>Importance des bases de données dans le Big Data</a:t>
            </a:r>
          </a:p>
          <a:p>
            <a:pPr marL="0"/>
            <a:r>
              <a:rPr lang="en-US" kern="1200"/>
              <a:t>Types de bases de données Big Data</a:t>
            </a:r>
          </a:p>
          <a:p>
            <a:pPr marL="0"/>
            <a:r>
              <a:rPr lang="en-US" kern="1200"/>
              <a:t>Technologies et plateformes Big Data</a:t>
            </a:r>
          </a:p>
          <a:p>
            <a:pPr marL="0"/>
            <a:r>
              <a:rPr lang="en-US" kern="1200"/>
              <a:t>Architecture des bases de données Big Data</a:t>
            </a:r>
          </a:p>
          <a:p>
            <a:pPr marL="0"/>
            <a:r>
              <a:rPr lang="en-US" kern="1200"/>
              <a:t>Gestion et analyse des données</a:t>
            </a:r>
          </a:p>
          <a:p>
            <a:pPr marL="0"/>
            <a:r>
              <a:rPr lang="en-US" kern="1200"/>
              <a:t>Machine Learning et Big Data</a:t>
            </a:r>
          </a:p>
          <a:p>
            <a:pPr marL="0"/>
            <a:r>
              <a:rPr lang="en-US" kern="1200"/>
              <a:t>Cas d'utilisation des bases de données Big Data</a:t>
            </a:r>
          </a:p>
        </p:txBody>
      </p:sp>
    </p:spTree>
    <p:extLst>
      <p:ext uri="{BB962C8B-B14F-4D97-AF65-F5344CB8AC3E}">
        <p14:creationId xmlns:p14="http://schemas.microsoft.com/office/powerpoint/2010/main" val="1742259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DAAD20EA-BA46-6678-725F-B3F7D4CA0EA7}"/>
              </a:ext>
            </a:extLst>
          </p:cNvPr>
          <p:cNvSpPr>
            <a:spLocks noGrp="1"/>
          </p:cNvSpPr>
          <p:nvPr>
            <p:ph type="pic" sz="quarter" idx="14"/>
          </p:nvPr>
        </p:nvSpPr>
        <p:spPr>
          <a:xfrm>
            <a:off x="6096000" y="-1"/>
            <a:ext cx="6096000" cy="6371351"/>
          </a:xfrm>
        </p:spPr>
        <p:txBody>
          <a:bodyPr/>
          <a:lstStyle/>
          <a:p>
            <a:endParaRPr lang="fr-FR"/>
          </a:p>
        </p:txBody>
      </p:sp>
      <p:sp>
        <p:nvSpPr>
          <p:cNvPr id="3" name="Titre 2">
            <a:extLst>
              <a:ext uri="{FF2B5EF4-FFF2-40B4-BE49-F238E27FC236}">
                <a16:creationId xmlns:a16="http://schemas.microsoft.com/office/drawing/2014/main" id="{449C22CE-9183-D2E7-1060-21F1989FF905}"/>
              </a:ext>
            </a:extLst>
          </p:cNvPr>
          <p:cNvSpPr>
            <a:spLocks noGrp="1"/>
          </p:cNvSpPr>
          <p:nvPr>
            <p:ph type="title"/>
          </p:nvPr>
        </p:nvSpPr>
        <p:spPr>
          <a:xfrm>
            <a:off x="7111800" y="3802899"/>
            <a:ext cx="4648200" cy="985000"/>
          </a:xfrm>
        </p:spPr>
        <p:txBody>
          <a:bodyPr anchor="ctr">
            <a:normAutofit/>
          </a:bodyPr>
          <a:lstStyle/>
          <a:p>
            <a:r>
              <a:rPr lang="fr-FR"/>
              <a:t>Introduction</a:t>
            </a:r>
          </a:p>
        </p:txBody>
      </p:sp>
      <p:sp>
        <p:nvSpPr>
          <p:cNvPr id="14" name="Text Placeholder 3">
            <a:extLst>
              <a:ext uri="{FF2B5EF4-FFF2-40B4-BE49-F238E27FC236}">
                <a16:creationId xmlns:a16="http://schemas.microsoft.com/office/drawing/2014/main" id="{1AD9D2DD-50E7-2E5F-8007-38173C1A4F35}"/>
              </a:ext>
            </a:extLst>
          </p:cNvPr>
          <p:cNvSpPr>
            <a:spLocks noGrp="1"/>
          </p:cNvSpPr>
          <p:nvPr>
            <p:ph type="body" sz="quarter" idx="32"/>
          </p:nvPr>
        </p:nvSpPr>
        <p:spPr>
          <a:xfrm>
            <a:off x="7111800" y="4787900"/>
            <a:ext cx="4648200" cy="1162800"/>
          </a:xfrm>
        </p:spPr>
        <p:txBody>
          <a:bodyPr/>
          <a:lstStyle/>
          <a:p>
            <a:endParaRPr lang="en-US"/>
          </a:p>
        </p:txBody>
      </p:sp>
      <p:sp>
        <p:nvSpPr>
          <p:cNvPr id="5" name="Espace réservé du contenu 4">
            <a:extLst>
              <a:ext uri="{FF2B5EF4-FFF2-40B4-BE49-F238E27FC236}">
                <a16:creationId xmlns:a16="http://schemas.microsoft.com/office/drawing/2014/main" id="{C767F973-8418-6134-1C37-7EDF106758A8}"/>
              </a:ext>
            </a:extLst>
          </p:cNvPr>
          <p:cNvSpPr>
            <a:spLocks noGrp="1"/>
          </p:cNvSpPr>
          <p:nvPr>
            <p:ph sz="half" idx="1"/>
          </p:nvPr>
        </p:nvSpPr>
        <p:spPr>
          <a:xfrm>
            <a:off x="432000" y="2668686"/>
            <a:ext cx="5472000" cy="2999426"/>
          </a:xfrm>
        </p:spPr>
        <p:txBody>
          <a:bodyPr anchor="b">
            <a:normAutofit/>
          </a:bodyPr>
          <a:lstStyle/>
          <a:p>
            <a:r>
              <a:rPr lang="fr-FR" sz="1500"/>
              <a:t>Ensembles de données volumineux et complexes</a:t>
            </a:r>
          </a:p>
          <a:p>
            <a:pPr lvl="1"/>
            <a:r>
              <a:rPr lang="fr-FR" sz="1500"/>
              <a:t>Ne peuvent pas être traités avec des outils traditionnels</a:t>
            </a:r>
          </a:p>
          <a:p>
            <a:r>
              <a:rPr lang="fr-FR" sz="1500"/>
              <a:t>Sources diverses de données</a:t>
            </a:r>
          </a:p>
          <a:p>
            <a:pPr lvl="1"/>
            <a:r>
              <a:rPr lang="fr-FR" sz="1500"/>
              <a:t>Réseaux sociaux</a:t>
            </a:r>
          </a:p>
          <a:p>
            <a:pPr lvl="1"/>
            <a:r>
              <a:rPr lang="fr-FR" sz="1500"/>
              <a:t>Capteurs IoT</a:t>
            </a:r>
          </a:p>
          <a:p>
            <a:pPr lvl="1"/>
            <a:r>
              <a:rPr lang="fr-FR" sz="1500"/>
              <a:t>Transactions en ligne</a:t>
            </a:r>
          </a:p>
          <a:p>
            <a:r>
              <a:rPr lang="fr-FR" sz="1500"/>
              <a:t>Technologies avancées nécessaires</a:t>
            </a:r>
          </a:p>
          <a:p>
            <a:pPr lvl="1"/>
            <a:r>
              <a:rPr lang="fr-FR" sz="1500"/>
              <a:t>Pour gérer et analyser le Big Data</a:t>
            </a:r>
          </a:p>
          <a:p>
            <a:pPr lvl="1"/>
            <a:r>
              <a:rPr lang="fr-FR" sz="1500"/>
              <a:t>Extraire des informations précieuses</a:t>
            </a:r>
          </a:p>
          <a:p>
            <a:pPr lvl="1"/>
            <a:r>
              <a:rPr lang="fr-FR" sz="1500"/>
              <a:t>Prendre des décisions fondées sur les données</a:t>
            </a:r>
          </a:p>
        </p:txBody>
      </p:sp>
      <p:sp>
        <p:nvSpPr>
          <p:cNvPr id="6" name="Espace réservé du pied de page 5">
            <a:extLst>
              <a:ext uri="{FF2B5EF4-FFF2-40B4-BE49-F238E27FC236}">
                <a16:creationId xmlns:a16="http://schemas.microsoft.com/office/drawing/2014/main" id="{3D17A5DF-4633-4474-CE76-F87118C92DBE}"/>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731E5253-9C5E-2F5E-5291-395D39190319}"/>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3</a:t>
            </a:fld>
            <a:endParaRPr lang="fr-FR" noProof="0"/>
          </a:p>
        </p:txBody>
      </p:sp>
    </p:spTree>
    <p:extLst>
      <p:ext uri="{BB962C8B-B14F-4D97-AF65-F5344CB8AC3E}">
        <p14:creationId xmlns:p14="http://schemas.microsoft.com/office/powerpoint/2010/main" val="59200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57CA6559-EF3E-92E4-F068-B4DA0F6F4DEB}"/>
              </a:ext>
            </a:extLst>
          </p:cNvPr>
          <p:cNvSpPr>
            <a:spLocks noGrp="1"/>
          </p:cNvSpPr>
          <p:nvPr>
            <p:ph type="ftr" sz="quarter" idx="12"/>
          </p:nvPr>
        </p:nvSpPr>
        <p:spPr/>
        <p:txBody>
          <a:bodyPr/>
          <a:lstStyle/>
          <a:p>
            <a:pPr rtl="0"/>
            <a:r>
              <a:rPr lang="fr-FR" noProof="0"/>
              <a:t>Ajouter un pied de page</a:t>
            </a:r>
          </a:p>
        </p:txBody>
      </p:sp>
      <p:sp>
        <p:nvSpPr>
          <p:cNvPr id="3" name="Espace réservé du numéro de diapositive 2">
            <a:extLst>
              <a:ext uri="{FF2B5EF4-FFF2-40B4-BE49-F238E27FC236}">
                <a16:creationId xmlns:a16="http://schemas.microsoft.com/office/drawing/2014/main" id="{80A6746B-9423-D38A-AE44-5EEF602951CF}"/>
              </a:ext>
            </a:extLst>
          </p:cNvPr>
          <p:cNvSpPr>
            <a:spLocks noGrp="1"/>
          </p:cNvSpPr>
          <p:nvPr>
            <p:ph type="sldNum" sz="quarter" idx="13"/>
          </p:nvPr>
        </p:nvSpPr>
        <p:spPr/>
        <p:txBody>
          <a:bodyPr/>
          <a:lstStyle/>
          <a:p>
            <a:pPr rtl="0"/>
            <a:fld id="{19B51A1E-902D-48AF-9020-955120F399B6}" type="slidenum">
              <a:rPr lang="fr-FR" noProof="0" smtClean="0"/>
              <a:pPr rtl="0"/>
              <a:t>4</a:t>
            </a:fld>
            <a:endParaRPr lang="fr-FR" noProof="0"/>
          </a:p>
        </p:txBody>
      </p:sp>
      <p:sp>
        <p:nvSpPr>
          <p:cNvPr id="4" name="Titre 3">
            <a:extLst>
              <a:ext uri="{FF2B5EF4-FFF2-40B4-BE49-F238E27FC236}">
                <a16:creationId xmlns:a16="http://schemas.microsoft.com/office/drawing/2014/main" id="{522966A6-C962-C61E-9129-2E8B1B93A2DE}"/>
              </a:ext>
            </a:extLst>
          </p:cNvPr>
          <p:cNvSpPr>
            <a:spLocks noGrp="1"/>
          </p:cNvSpPr>
          <p:nvPr>
            <p:ph type="title"/>
          </p:nvPr>
        </p:nvSpPr>
        <p:spPr/>
        <p:txBody>
          <a:bodyPr/>
          <a:lstStyle/>
          <a:p>
            <a:pPr>
              <a:lnSpc>
                <a:spcPct val="100000"/>
              </a:lnSpc>
            </a:pPr>
            <a:r>
              <a:rPr lang="fr-FR" sz="2400" b="1" dirty="0">
                <a:effectLst/>
                <a:latin typeface="Arial" panose="020B0604020202020204" pitchFamily="34" charset="0"/>
              </a:rPr>
              <a:t>La frontière entre Data et </a:t>
            </a:r>
            <a:r>
              <a:rPr lang="fr-FR" sz="2400" b="1" dirty="0" err="1">
                <a:effectLst/>
                <a:latin typeface="Arial" panose="020B0604020202020204" pitchFamily="34" charset="0"/>
              </a:rPr>
              <a:t>BigData</a:t>
            </a:r>
            <a:br>
              <a:rPr lang="fr-FR" sz="2400" b="1" dirty="0">
                <a:effectLst/>
                <a:latin typeface="Arial" panose="020B0604020202020204" pitchFamily="34" charset="0"/>
              </a:rPr>
            </a:br>
            <a:endParaRPr lang="fr-FR" sz="2400" dirty="0"/>
          </a:p>
        </p:txBody>
      </p:sp>
      <p:sp>
        <p:nvSpPr>
          <p:cNvPr id="5" name="ZoneTexte 4">
            <a:extLst>
              <a:ext uri="{FF2B5EF4-FFF2-40B4-BE49-F238E27FC236}">
                <a16:creationId xmlns:a16="http://schemas.microsoft.com/office/drawing/2014/main" id="{90A19732-382A-EFE5-53CE-36073B37112F}"/>
              </a:ext>
            </a:extLst>
          </p:cNvPr>
          <p:cNvSpPr txBox="1"/>
          <p:nvPr/>
        </p:nvSpPr>
        <p:spPr>
          <a:xfrm>
            <a:off x="432000" y="1143000"/>
            <a:ext cx="11328000" cy="3554819"/>
          </a:xfrm>
          <a:prstGeom prst="rect">
            <a:avLst/>
          </a:prstGeom>
          <a:noFill/>
        </p:spPr>
        <p:txBody>
          <a:bodyPr wrap="square" rtlCol="0">
            <a:spAutoFit/>
          </a:bodyPr>
          <a:lstStyle/>
          <a:p>
            <a:pPr>
              <a:lnSpc>
                <a:spcPct val="115000"/>
              </a:lnSpc>
            </a:pPr>
            <a:r>
              <a:rPr lang="fr-FR" sz="1800" dirty="0">
                <a:effectLst/>
                <a:latin typeface="Arial" panose="020B0604020202020204" pitchFamily="34" charset="0"/>
                <a:ea typeface="Arial" panose="020B0604020202020204" pitchFamily="34" charset="0"/>
              </a:rPr>
              <a:t> </a:t>
            </a:r>
          </a:p>
          <a:p>
            <a:pPr>
              <a:lnSpc>
                <a:spcPct val="115000"/>
              </a:lnSpc>
            </a:pPr>
            <a:r>
              <a:rPr lang="fr-FR" sz="1800" dirty="0">
                <a:effectLst/>
                <a:latin typeface="Arial" panose="020B0604020202020204" pitchFamily="34" charset="0"/>
                <a:ea typeface="Arial" panose="020B0604020202020204" pitchFamily="34" charset="0"/>
              </a:rPr>
              <a:t>Ce qui n’est pas big data</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Ce que l’on peut ouvrir avec Excel</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Les capteurs utilisés dans l’IOT</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Les données publiques disponible en téléchargement</a:t>
            </a:r>
          </a:p>
          <a:p>
            <a:pPr>
              <a:lnSpc>
                <a:spcPct val="115000"/>
              </a:lnSpc>
            </a:pPr>
            <a:r>
              <a:rPr lang="fr-FR" sz="1800" dirty="0">
                <a:effectLst/>
                <a:latin typeface="Arial" panose="020B0604020202020204" pitchFamily="34" charset="0"/>
                <a:ea typeface="Arial" panose="020B0604020202020204" pitchFamily="34" charset="0"/>
              </a:rPr>
              <a:t> </a:t>
            </a:r>
          </a:p>
          <a:p>
            <a:pPr>
              <a:lnSpc>
                <a:spcPct val="115000"/>
              </a:lnSpc>
            </a:pPr>
            <a:r>
              <a:rPr lang="fr-FR" sz="1800" dirty="0">
                <a:effectLst/>
                <a:latin typeface="Arial" panose="020B0604020202020204" pitchFamily="34" charset="0"/>
                <a:ea typeface="Arial" panose="020B0604020202020204" pitchFamily="34" charset="0"/>
              </a:rPr>
              <a:t>Ce qui est Big Data</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Les Logs des grands enseignes de la distribution</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Le trafic des gros sites web</a:t>
            </a:r>
          </a:p>
          <a:p>
            <a:pPr marL="342900" lvl="0" indent="-342900">
              <a:lnSpc>
                <a:spcPct val="115000"/>
              </a:lnSpc>
              <a:buFont typeface="Wingdings" panose="05000000000000000000" pitchFamily="2" charset="2"/>
              <a:buChar char=""/>
            </a:pPr>
            <a:r>
              <a:rPr lang="fr-FR" sz="1800" u="none" strike="noStrike" dirty="0">
                <a:effectLst/>
                <a:latin typeface="Arial" panose="020B0604020202020204" pitchFamily="34" charset="0"/>
                <a:ea typeface="Arial" panose="020B0604020202020204" pitchFamily="34" charset="0"/>
                <a:cs typeface="Wingdings" panose="05000000000000000000" pitchFamily="2" charset="2"/>
              </a:rPr>
              <a:t>Les données de localisation GSM s’un opérateur de téléphone sur une journée</a:t>
            </a:r>
          </a:p>
          <a:p>
            <a:endParaRPr lang="fr-FR" dirty="0"/>
          </a:p>
        </p:txBody>
      </p:sp>
    </p:spTree>
    <p:extLst>
      <p:ext uri="{BB962C8B-B14F-4D97-AF65-F5344CB8AC3E}">
        <p14:creationId xmlns:p14="http://schemas.microsoft.com/office/powerpoint/2010/main" val="2538151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692B683E-7E60-765E-1553-27FCC3D9AE44}"/>
              </a:ext>
            </a:extLst>
          </p:cNvPr>
          <p:cNvSpPr>
            <a:spLocks noGrp="1"/>
          </p:cNvSpPr>
          <p:nvPr>
            <p:ph type="ftr" sz="quarter" idx="12"/>
          </p:nvPr>
        </p:nvSpPr>
        <p:spPr>
          <a:xfrm>
            <a:off x="432000" y="6439820"/>
            <a:ext cx="5664000" cy="295062"/>
          </a:xfrm>
        </p:spPr>
        <p:txBody>
          <a:bodyPr vert="horz" lIns="0" tIns="0" rIns="0" bIns="0" rtlCol="0" anchor="ctr">
            <a:normAutofit/>
          </a:bodyPr>
          <a:lstStyle/>
          <a:p>
            <a:pPr>
              <a:spcAft>
                <a:spcPts val="600"/>
              </a:spcAft>
            </a:pPr>
            <a:r>
              <a:rPr lang="fr-FR" kern="1200">
                <a:latin typeface="+mn-lt"/>
                <a:ea typeface="+mn-ea"/>
                <a:cs typeface="+mn-cs"/>
              </a:rPr>
              <a:t>Ajouter un pied de page</a:t>
            </a:r>
          </a:p>
        </p:txBody>
      </p:sp>
      <p:sp>
        <p:nvSpPr>
          <p:cNvPr id="5" name="Espace réservé du numéro de diapositive 4">
            <a:extLst>
              <a:ext uri="{FF2B5EF4-FFF2-40B4-BE49-F238E27FC236}">
                <a16:creationId xmlns:a16="http://schemas.microsoft.com/office/drawing/2014/main" id="{F5CC0F36-73DC-CD18-FD60-81F8A4D1870D}"/>
              </a:ext>
            </a:extLst>
          </p:cNvPr>
          <p:cNvSpPr>
            <a:spLocks noGrp="1"/>
          </p:cNvSpPr>
          <p:nvPr>
            <p:ph type="sldNum" sz="quarter" idx="13"/>
          </p:nvPr>
        </p:nvSpPr>
        <p:spPr>
          <a:xfrm>
            <a:off x="11760000" y="6371351"/>
            <a:ext cx="432000" cy="432000"/>
          </a:xfrm>
        </p:spPr>
        <p:txBody>
          <a:bodyPr vert="horz" lIns="0" tIns="0" rIns="0" bIns="0" rtlCol="0" anchor="ctr">
            <a:normAutofit/>
          </a:bodyPr>
          <a:lstStyle/>
          <a:p>
            <a:pPr>
              <a:spcAft>
                <a:spcPts val="600"/>
              </a:spcAft>
            </a:pPr>
            <a:fld id="{19B51A1E-902D-48AF-9020-955120F399B6}" type="slidenum">
              <a:rPr lang="fr-FR" smtClean="0"/>
              <a:pPr>
                <a:spcAft>
                  <a:spcPts val="600"/>
                </a:spcAft>
              </a:pPr>
              <a:t>5</a:t>
            </a:fld>
            <a:endParaRPr lang="fr-FR"/>
          </a:p>
        </p:txBody>
      </p:sp>
      <p:sp>
        <p:nvSpPr>
          <p:cNvPr id="2" name="Titre 1">
            <a:extLst>
              <a:ext uri="{FF2B5EF4-FFF2-40B4-BE49-F238E27FC236}">
                <a16:creationId xmlns:a16="http://schemas.microsoft.com/office/drawing/2014/main" id="{1A07996C-72B3-ED89-7C15-59B0E35C9FB5}"/>
              </a:ext>
            </a:extLst>
          </p:cNvPr>
          <p:cNvSpPr>
            <a:spLocks noGrp="1"/>
          </p:cNvSpPr>
          <p:nvPr>
            <p:ph type="title"/>
          </p:nvPr>
        </p:nvSpPr>
        <p:spPr>
          <a:xfrm>
            <a:off x="432000" y="432000"/>
            <a:ext cx="11328000" cy="432000"/>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fr-FR" altLang="zh-CN" sz="3000" b="0" i="0" u="none" strike="noStrike" cap="none" normalizeH="0" baseline="0">
                <a:ln>
                  <a:noFill/>
                </a:ln>
                <a:effectLst/>
              </a:rPr>
              <a:t>Les chiffres du Big Data</a:t>
            </a:r>
          </a:p>
          <a:p>
            <a:pPr marL="0" marR="0" lvl="0" indent="0" defTabSz="914400" rtl="0" eaLnBrk="0" fontAlgn="base" latinLnBrk="0" hangingPunct="0">
              <a:spcBef>
                <a:spcPct val="0"/>
              </a:spcBef>
              <a:spcAft>
                <a:spcPct val="0"/>
              </a:spcAft>
              <a:buClrTx/>
              <a:buSzTx/>
              <a:buFontTx/>
              <a:buNone/>
              <a:tabLst/>
            </a:pPr>
            <a:endParaRPr kumimoji="0" lang="fr-FR" altLang="zh-CN" sz="3000" b="0" i="0" u="none" strike="noStrike" cap="none" normalizeH="0" baseline="0">
              <a:ln>
                <a:noFill/>
              </a:ln>
              <a:effectLst/>
            </a:endParaRPr>
          </a:p>
        </p:txBody>
      </p:sp>
      <p:sp>
        <p:nvSpPr>
          <p:cNvPr id="7" name="Rectangle 3">
            <a:extLst>
              <a:ext uri="{FF2B5EF4-FFF2-40B4-BE49-F238E27FC236}">
                <a16:creationId xmlns:a16="http://schemas.microsoft.com/office/drawing/2014/main" id="{8B7F312B-E08C-8F4D-21FD-470B90ACBE58}"/>
              </a:ext>
            </a:extLst>
          </p:cNvPr>
          <p:cNvSpPr>
            <a:spLocks noChangeArrowheads="1"/>
          </p:cNvSpPr>
          <p:nvPr/>
        </p:nvSpPr>
        <p:spPr bwMode="auto">
          <a:xfrm>
            <a:off x="6286500" y="1054500"/>
            <a:ext cx="5473500" cy="435254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 </a:t>
            </a:r>
            <a:r>
              <a:rPr kumimoji="0" lang="en-US" altLang="zh-CN" sz="1100" b="0" i="0" u="none" strike="noStrike" kern="1200" cap="none" normalizeH="0" baseline="0" dirty="0" err="1">
                <a:ln>
                  <a:noFill/>
                </a:ln>
                <a:solidFill>
                  <a:schemeClr val="tx1">
                    <a:lumMod val="75000"/>
                    <a:lumOff val="25000"/>
                  </a:schemeClr>
                </a:solidFill>
                <a:effectLst/>
              </a:rPr>
              <a:t>mégaoctet</a:t>
            </a:r>
            <a:r>
              <a:rPr kumimoji="0" lang="en-US" altLang="zh-CN" sz="1100" b="0" i="0" u="none" strike="noStrike" kern="1200" cap="none" normalizeH="0" baseline="0" dirty="0">
                <a:ln>
                  <a:noFill/>
                </a:ln>
                <a:solidFill>
                  <a:schemeClr val="tx1">
                    <a:lumMod val="75000"/>
                    <a:lumOff val="25000"/>
                  </a:schemeClr>
                </a:solidFill>
                <a:effectLst/>
              </a:rPr>
              <a:t> (Mo) = 1 million </a:t>
            </a:r>
            <a:r>
              <a:rPr kumimoji="0" lang="en-US" altLang="zh-CN" sz="1100" b="0" i="0" u="none" strike="noStrike" kern="1200" cap="none" normalizeH="0" baseline="0" dirty="0" err="1">
                <a:ln>
                  <a:noFill/>
                </a:ln>
                <a:solidFill>
                  <a:schemeClr val="tx1">
                    <a:lumMod val="75000"/>
                    <a:lumOff val="25000"/>
                  </a:schemeClr>
                </a:solidFill>
                <a:effectLst/>
              </a:rPr>
              <a:t>d'octets</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 Mo = </a:t>
            </a:r>
            <a:r>
              <a:rPr kumimoji="0" lang="en-US" altLang="zh-CN" sz="1100" b="0" i="0" u="none" strike="noStrike" kern="1200" cap="none" normalizeH="0" baseline="0" dirty="0" err="1">
                <a:ln>
                  <a:noFill/>
                </a:ln>
                <a:solidFill>
                  <a:schemeClr val="tx1">
                    <a:lumMod val="75000"/>
                    <a:lumOff val="25000"/>
                  </a:schemeClr>
                </a:solidFill>
                <a:effectLst/>
              </a:rPr>
              <a:t>une</a:t>
            </a:r>
            <a:r>
              <a:rPr kumimoji="0" lang="en-US" altLang="zh-CN" sz="1100" b="0" i="0" u="none" strike="noStrike" kern="1200" cap="none" normalizeH="0" baseline="0" dirty="0">
                <a:ln>
                  <a:noFill/>
                </a:ln>
                <a:solidFill>
                  <a:schemeClr val="tx1">
                    <a:lumMod val="75000"/>
                    <a:lumOff val="25000"/>
                  </a:schemeClr>
                </a:solidFill>
                <a:effectLst/>
              </a:rPr>
              <a:t> photo numérique </a:t>
            </a:r>
            <a:r>
              <a:rPr kumimoji="0" lang="en-US" altLang="zh-CN" sz="1100" b="0" i="0" u="none" strike="noStrike" kern="1200" cap="none" normalizeH="0" baseline="0" dirty="0" err="1">
                <a:ln>
                  <a:noFill/>
                </a:ln>
                <a:solidFill>
                  <a:schemeClr val="tx1">
                    <a:lumMod val="75000"/>
                    <a:lumOff val="25000"/>
                  </a:schemeClr>
                </a:solidFill>
                <a:effectLst/>
              </a:rPr>
              <a:t>en</a:t>
            </a:r>
            <a:r>
              <a:rPr kumimoji="0" lang="en-US" altLang="zh-CN" sz="1100" b="0" i="0" u="none" strike="noStrike" kern="1200" cap="none" normalizeH="0" baseline="0" dirty="0">
                <a:ln>
                  <a:noFill/>
                </a:ln>
                <a:solidFill>
                  <a:schemeClr val="tx1">
                    <a:lumMod val="75000"/>
                    <a:lumOff val="25000"/>
                  </a:schemeClr>
                </a:solidFill>
                <a:effectLst/>
              </a:rPr>
              <a:t> haute </a:t>
            </a:r>
            <a:r>
              <a:rPr kumimoji="0" lang="en-US" altLang="zh-CN" sz="1100" b="0" i="0" u="none" strike="noStrike" kern="1200" cap="none" normalizeH="0" baseline="0" dirty="0" err="1">
                <a:ln>
                  <a:noFill/>
                </a:ln>
                <a:solidFill>
                  <a:schemeClr val="tx1">
                    <a:lumMod val="75000"/>
                    <a:lumOff val="25000"/>
                  </a:schemeClr>
                </a:solidFill>
                <a:effectLst/>
              </a:rPr>
              <a:t>résolution</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10 Mo = 1 minute de son haute </a:t>
            </a:r>
            <a:r>
              <a:rPr kumimoji="0" lang="en-US" altLang="zh-CN" sz="1100" b="0" i="0" u="none" strike="noStrike" kern="1200" cap="none" normalizeH="0" baseline="0" dirty="0" err="1">
                <a:ln>
                  <a:noFill/>
                </a:ln>
                <a:solidFill>
                  <a:schemeClr val="tx1">
                    <a:lumMod val="75000"/>
                    <a:lumOff val="25000"/>
                  </a:schemeClr>
                </a:solidFill>
                <a:effectLst/>
              </a:rPr>
              <a:t>fidélité</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100 Mo = le </a:t>
            </a:r>
            <a:r>
              <a:rPr kumimoji="0" lang="en-US" altLang="zh-CN" sz="1100" b="0" i="0" u="none" strike="noStrike" kern="1200" cap="none" normalizeH="0" baseline="0" dirty="0" err="1">
                <a:ln>
                  <a:noFill/>
                </a:ln>
                <a:solidFill>
                  <a:schemeClr val="tx1">
                    <a:lumMod val="75000"/>
                    <a:lumOff val="25000"/>
                  </a:schemeClr>
                </a:solidFill>
                <a:effectLst/>
              </a:rPr>
              <a:t>contenu</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d'une</a:t>
            </a:r>
            <a:r>
              <a:rPr kumimoji="0" lang="en-US" altLang="zh-CN" sz="1100" b="0" i="0" u="none" strike="noStrike" kern="1200" cap="none" normalizeH="0" baseline="0" dirty="0">
                <a:ln>
                  <a:noFill/>
                </a:ln>
                <a:solidFill>
                  <a:schemeClr val="tx1">
                    <a:lumMod val="75000"/>
                    <a:lumOff val="25000"/>
                  </a:schemeClr>
                </a:solidFill>
                <a:effectLst/>
              </a:rPr>
              <a:t> pile de livres de 1 </a:t>
            </a:r>
            <a:r>
              <a:rPr kumimoji="0" lang="en-US" altLang="zh-CN" sz="1100" b="0" i="0" u="none" strike="noStrike" kern="1200" cap="none" normalizeH="0" baseline="0" dirty="0" err="1">
                <a:ln>
                  <a:noFill/>
                </a:ln>
                <a:solidFill>
                  <a:schemeClr val="tx1">
                    <a:lumMod val="75000"/>
                    <a:lumOff val="25000"/>
                  </a:schemeClr>
                </a:solidFill>
                <a:effectLst/>
              </a:rPr>
              <a:t>mètre</a:t>
            </a:r>
            <a:r>
              <a:rPr kumimoji="0" lang="en-US" altLang="zh-CN" sz="1100" b="0" i="0" u="none" strike="noStrike" kern="1200" cap="none" normalizeH="0" baseline="0" dirty="0">
                <a:ln>
                  <a:noFill/>
                </a:ln>
                <a:solidFill>
                  <a:schemeClr val="tx1">
                    <a:lumMod val="75000"/>
                    <a:lumOff val="25000"/>
                  </a:schemeClr>
                </a:solidFill>
                <a:effectLst/>
              </a:rPr>
              <a:t> de haut</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 </a:t>
            </a:r>
            <a:r>
              <a:rPr kumimoji="0" lang="en-US" altLang="zh-CN" sz="1100" b="0" i="0" u="none" strike="noStrike" kern="1200" cap="none" normalizeH="0" baseline="0" dirty="0" err="1">
                <a:ln>
                  <a:noFill/>
                </a:ln>
                <a:solidFill>
                  <a:schemeClr val="tx1">
                    <a:lumMod val="75000"/>
                    <a:lumOff val="25000"/>
                  </a:schemeClr>
                </a:solidFill>
                <a:effectLst/>
              </a:rPr>
              <a:t>gigaoctet</a:t>
            </a:r>
            <a:r>
              <a:rPr kumimoji="0" lang="en-US" altLang="zh-CN" sz="1100" b="0" i="0" u="none" strike="noStrike" kern="1200" cap="none" normalizeH="0" baseline="0" dirty="0">
                <a:ln>
                  <a:noFill/>
                </a:ln>
                <a:solidFill>
                  <a:schemeClr val="tx1">
                    <a:lumMod val="75000"/>
                    <a:lumOff val="25000"/>
                  </a:schemeClr>
                </a:solidFill>
                <a:effectLst/>
              </a:rPr>
              <a:t> (Go) = 1 milliard </a:t>
            </a:r>
            <a:r>
              <a:rPr kumimoji="0" lang="en-US" altLang="zh-CN" sz="1100" b="0" i="0" u="none" strike="noStrike" kern="1200" cap="none" normalizeH="0" baseline="0" dirty="0" err="1">
                <a:ln>
                  <a:noFill/>
                </a:ln>
                <a:solidFill>
                  <a:schemeClr val="tx1">
                    <a:lumMod val="75000"/>
                    <a:lumOff val="25000"/>
                  </a:schemeClr>
                </a:solidFill>
                <a:effectLst/>
              </a:rPr>
              <a:t>d'octets</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20 Go = un </a:t>
            </a:r>
            <a:r>
              <a:rPr kumimoji="0" lang="en-US" altLang="zh-CN" sz="1100" b="0" i="0" u="none" strike="noStrike" kern="1200" cap="none" normalizeH="0" baseline="0" dirty="0" err="1">
                <a:ln>
                  <a:noFill/>
                </a:ln>
                <a:solidFill>
                  <a:schemeClr val="tx1">
                    <a:lumMod val="75000"/>
                    <a:lumOff val="25000"/>
                  </a:schemeClr>
                </a:solidFill>
                <a:effectLst/>
              </a:rPr>
              <a:t>enregistrement</a:t>
            </a:r>
            <a:r>
              <a:rPr kumimoji="0" lang="en-US" altLang="zh-CN" sz="1100" b="0" i="0" u="none" strike="noStrike" kern="1200" cap="none" normalizeH="0" baseline="0" dirty="0">
                <a:ln>
                  <a:noFill/>
                </a:ln>
                <a:solidFill>
                  <a:schemeClr val="tx1">
                    <a:lumMod val="75000"/>
                    <a:lumOff val="25000"/>
                  </a:schemeClr>
                </a:solidFill>
                <a:effectLst/>
              </a:rPr>
              <a:t> de </a:t>
            </a:r>
            <a:r>
              <a:rPr kumimoji="0" lang="en-US" altLang="zh-CN" sz="1100" b="0" i="0" u="none" strike="noStrike" kern="1200" cap="none" normalizeH="0" baseline="0" dirty="0" err="1">
                <a:ln>
                  <a:noFill/>
                </a:ln>
                <a:solidFill>
                  <a:schemeClr val="tx1">
                    <a:lumMod val="75000"/>
                    <a:lumOff val="25000"/>
                  </a:schemeClr>
                </a:solidFill>
                <a:effectLst/>
              </a:rPr>
              <a:t>l'oeuvre</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complète</a:t>
            </a:r>
            <a:r>
              <a:rPr kumimoji="0" lang="en-US" altLang="zh-CN" sz="1100" b="0" i="0" u="none" strike="noStrike" kern="1200" cap="none" normalizeH="0" baseline="0" dirty="0">
                <a:ln>
                  <a:noFill/>
                </a:ln>
                <a:solidFill>
                  <a:schemeClr val="tx1">
                    <a:lumMod val="75000"/>
                    <a:lumOff val="25000"/>
                  </a:schemeClr>
                </a:solidFill>
                <a:effectLst/>
              </a:rPr>
              <a:t> de Beethoven</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500 Go = le plus gros site FTP</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 </a:t>
            </a:r>
            <a:r>
              <a:rPr kumimoji="0" lang="en-US" altLang="zh-CN" sz="1100" b="0" i="0" u="none" strike="noStrike" kern="1200" cap="none" normalizeH="0" baseline="0" dirty="0" err="1">
                <a:ln>
                  <a:noFill/>
                </a:ln>
                <a:solidFill>
                  <a:schemeClr val="tx1">
                    <a:lumMod val="75000"/>
                    <a:lumOff val="25000"/>
                  </a:schemeClr>
                </a:solidFill>
                <a:effectLst/>
              </a:rPr>
              <a:t>téraoctet</a:t>
            </a:r>
            <a:r>
              <a:rPr kumimoji="0" lang="en-US" altLang="zh-CN" sz="1100" b="0" i="0" u="none" strike="noStrike" kern="1200" cap="none" normalizeH="0" baseline="0" dirty="0">
                <a:ln>
                  <a:noFill/>
                </a:ln>
                <a:solidFill>
                  <a:schemeClr val="tx1">
                    <a:lumMod val="75000"/>
                    <a:lumOff val="25000"/>
                  </a:schemeClr>
                </a:solidFill>
                <a:effectLst/>
              </a:rPr>
              <a:t> (To) = 1000 milliards </a:t>
            </a:r>
            <a:r>
              <a:rPr kumimoji="0" lang="en-US" altLang="zh-CN" sz="1100" b="0" i="0" u="none" strike="noStrike" kern="1200" cap="none" normalizeH="0" baseline="0" dirty="0" err="1">
                <a:ln>
                  <a:noFill/>
                </a:ln>
                <a:solidFill>
                  <a:schemeClr val="tx1">
                    <a:lumMod val="75000"/>
                    <a:lumOff val="25000"/>
                  </a:schemeClr>
                </a:solidFill>
                <a:effectLst/>
              </a:rPr>
              <a:t>d'octets</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 To = </a:t>
            </a:r>
            <a:r>
              <a:rPr kumimoji="0" lang="en-US" altLang="zh-CN" sz="1100" b="0" i="0" u="none" strike="noStrike" kern="1200" cap="none" normalizeH="0" baseline="0" dirty="0" err="1">
                <a:ln>
                  <a:noFill/>
                </a:ln>
                <a:solidFill>
                  <a:schemeClr val="tx1">
                    <a:lumMod val="75000"/>
                    <a:lumOff val="25000"/>
                  </a:schemeClr>
                </a:solidFill>
                <a:effectLst/>
              </a:rPr>
              <a:t>tous</a:t>
            </a:r>
            <a:r>
              <a:rPr kumimoji="0" lang="en-US" altLang="zh-CN" sz="1100" b="0" i="0" u="none" strike="noStrike" kern="1200" cap="none" normalizeH="0" baseline="0" dirty="0">
                <a:ln>
                  <a:noFill/>
                </a:ln>
                <a:solidFill>
                  <a:schemeClr val="tx1">
                    <a:lumMod val="75000"/>
                    <a:lumOff val="25000"/>
                  </a:schemeClr>
                </a:solidFill>
                <a:effectLst/>
              </a:rPr>
              <a:t> les </a:t>
            </a:r>
            <a:r>
              <a:rPr kumimoji="0" lang="en-US" altLang="zh-CN" sz="1100" b="0" i="0" u="none" strike="noStrike" kern="1200" cap="none" normalizeH="0" baseline="0" dirty="0" err="1">
                <a:ln>
                  <a:noFill/>
                </a:ln>
                <a:solidFill>
                  <a:schemeClr val="tx1">
                    <a:lumMod val="75000"/>
                    <a:lumOff val="25000"/>
                  </a:schemeClr>
                </a:solidFill>
                <a:effectLst/>
              </a:rPr>
              <a:t>ouvrages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d'une</a:t>
            </a:r>
            <a:r>
              <a:rPr kumimoji="0" lang="en-US" altLang="zh-CN" sz="1100" b="0" i="0" u="none" strike="noStrike" kern="1200" cap="none" normalizeH="0" baseline="0" dirty="0">
                <a:ln>
                  <a:noFill/>
                </a:ln>
                <a:solidFill>
                  <a:schemeClr val="tx1">
                    <a:lumMod val="75000"/>
                    <a:lumOff val="25000"/>
                  </a:schemeClr>
                </a:solidFill>
                <a:effectLst/>
              </a:rPr>
              <a:t> bibliothèque </a:t>
            </a:r>
            <a:r>
              <a:rPr kumimoji="0" lang="en-US" altLang="zh-CN" sz="1100" b="0" i="0" u="none" strike="noStrike" kern="1200" cap="none" normalizeH="0" baseline="0" dirty="0" err="1">
                <a:ln>
                  <a:noFill/>
                </a:ln>
                <a:solidFill>
                  <a:schemeClr val="tx1">
                    <a:lumMod val="75000"/>
                    <a:lumOff val="25000"/>
                  </a:schemeClr>
                </a:solidFill>
                <a:effectLst/>
              </a:rPr>
              <a:t>universitaire</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10 To = </a:t>
            </a:r>
            <a:r>
              <a:rPr kumimoji="0" lang="en-US" altLang="zh-CN" sz="1100" b="0" i="0" u="none" strike="noStrike" kern="1200" cap="none" normalizeH="0" baseline="0" dirty="0" err="1">
                <a:ln>
                  <a:noFill/>
                </a:ln>
                <a:solidFill>
                  <a:schemeClr val="tx1">
                    <a:lumMod val="75000"/>
                    <a:lumOff val="25000"/>
                  </a:schemeClr>
                </a:solidFill>
                <a:effectLst/>
              </a:rPr>
              <a:t>tous</a:t>
            </a:r>
            <a:r>
              <a:rPr kumimoji="0" lang="en-US" altLang="zh-CN" sz="1100" b="0" i="0" u="none" strike="noStrike" kern="1200" cap="none" normalizeH="0" baseline="0" dirty="0">
                <a:ln>
                  <a:noFill/>
                </a:ln>
                <a:solidFill>
                  <a:schemeClr val="tx1">
                    <a:lumMod val="75000"/>
                    <a:lumOff val="25000"/>
                  </a:schemeClr>
                </a:solidFill>
                <a:effectLst/>
              </a:rPr>
              <a:t> les </a:t>
            </a:r>
            <a:r>
              <a:rPr kumimoji="0" lang="en-US" altLang="zh-CN" sz="1100" b="0" i="0" u="none" strike="noStrike" kern="1200" cap="none" normalizeH="0" baseline="0" dirty="0" err="1">
                <a:ln>
                  <a:noFill/>
                </a:ln>
                <a:solidFill>
                  <a:schemeClr val="tx1">
                    <a:lumMod val="75000"/>
                    <a:lumOff val="25000"/>
                  </a:schemeClr>
                </a:solidFill>
                <a:effectLst/>
              </a:rPr>
              <a:t>imprimés</a:t>
            </a:r>
            <a:r>
              <a:rPr kumimoji="0" lang="en-US" altLang="zh-CN" sz="1100" b="0" i="0" u="none" strike="noStrike" kern="1200" cap="none" normalizeH="0" baseline="0" dirty="0">
                <a:ln>
                  <a:noFill/>
                </a:ln>
                <a:solidFill>
                  <a:schemeClr val="tx1">
                    <a:lumMod val="75000"/>
                    <a:lumOff val="25000"/>
                  </a:schemeClr>
                </a:solidFill>
                <a:effectLst/>
              </a:rPr>
              <a:t> de la bibliothèque du </a:t>
            </a:r>
            <a:r>
              <a:rPr kumimoji="0" lang="en-US" altLang="zh-CN" sz="1100" b="0" i="0" u="none" strike="noStrike" kern="1200" cap="none" normalizeH="0" baseline="0" dirty="0" err="1">
                <a:ln>
                  <a:noFill/>
                </a:ln>
                <a:solidFill>
                  <a:schemeClr val="tx1">
                    <a:lumMod val="75000"/>
                    <a:lumOff val="25000"/>
                  </a:schemeClr>
                </a:solidFill>
                <a:effectLst/>
              </a:rPr>
              <a:t>Congrès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américain</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400 To = la base de données du National Climatic Data Center</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 </a:t>
            </a:r>
            <a:r>
              <a:rPr kumimoji="0" lang="en-US" altLang="zh-CN" sz="1100" b="0" i="0" u="none" strike="noStrike" kern="1200" cap="none" normalizeH="0" baseline="0" dirty="0" err="1">
                <a:ln>
                  <a:noFill/>
                </a:ln>
                <a:solidFill>
                  <a:schemeClr val="tx1">
                    <a:lumMod val="75000"/>
                    <a:lumOff val="25000"/>
                  </a:schemeClr>
                </a:solidFill>
                <a:effectLst/>
              </a:rPr>
              <a:t>petaoctet</a:t>
            </a:r>
            <a:r>
              <a:rPr kumimoji="0" lang="en-US" altLang="zh-CN" sz="1100" b="0" i="0" u="none" strike="noStrike" kern="1200" cap="none" normalizeH="0" baseline="0" dirty="0">
                <a:ln>
                  <a:noFill/>
                </a:ln>
                <a:solidFill>
                  <a:schemeClr val="tx1">
                    <a:lumMod val="75000"/>
                    <a:lumOff val="25000"/>
                  </a:schemeClr>
                </a:solidFill>
                <a:effectLst/>
              </a:rPr>
              <a:t> (Po) = 1 million de milliards </a:t>
            </a:r>
            <a:r>
              <a:rPr kumimoji="0" lang="en-US" altLang="zh-CN" sz="1100" b="0" i="0" u="none" strike="noStrike" kern="1200" cap="none" normalizeH="0" baseline="0" dirty="0" err="1">
                <a:ln>
                  <a:noFill/>
                </a:ln>
                <a:solidFill>
                  <a:schemeClr val="tx1">
                    <a:lumMod val="75000"/>
                    <a:lumOff val="25000"/>
                  </a:schemeClr>
                </a:solidFill>
                <a:effectLst/>
              </a:rPr>
              <a:t>d'octets</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 Po = les fonds de </a:t>
            </a:r>
            <a:r>
              <a:rPr kumimoji="0" lang="en-US" altLang="zh-CN" sz="1100" b="0" i="0" u="none" strike="noStrike" kern="1200" cap="none" normalizeH="0" baseline="0" dirty="0" err="1">
                <a:ln>
                  <a:noFill/>
                </a:ln>
                <a:solidFill>
                  <a:schemeClr val="tx1">
                    <a:lumMod val="75000"/>
                    <a:lumOff val="25000"/>
                  </a:schemeClr>
                </a:solidFill>
                <a:effectLst/>
              </a:rPr>
              <a:t>toutes</a:t>
            </a:r>
            <a:r>
              <a:rPr kumimoji="0" lang="en-US" altLang="zh-CN" sz="1100" b="0" i="0" u="none" strike="noStrike" kern="1200" cap="none" normalizeH="0" baseline="0" dirty="0">
                <a:ln>
                  <a:noFill/>
                </a:ln>
                <a:solidFill>
                  <a:schemeClr val="tx1">
                    <a:lumMod val="75000"/>
                    <a:lumOff val="25000"/>
                  </a:schemeClr>
                </a:solidFill>
                <a:effectLst/>
              </a:rPr>
              <a:t> les bibliothèques </a:t>
            </a:r>
            <a:r>
              <a:rPr kumimoji="0" lang="en-US" altLang="zh-CN" sz="1100" b="0" i="0" u="none" strike="noStrike" kern="1200" cap="none" normalizeH="0" baseline="0" dirty="0" err="1">
                <a:ln>
                  <a:noFill/>
                </a:ln>
                <a:solidFill>
                  <a:schemeClr val="tx1">
                    <a:lumMod val="75000"/>
                    <a:lumOff val="25000"/>
                  </a:schemeClr>
                </a:solidFill>
                <a:effectLst/>
              </a:rPr>
              <a:t>universitaires</a:t>
            </a:r>
            <a:r>
              <a:rPr kumimoji="0" lang="en-US" altLang="zh-CN" sz="1100" b="0" i="0" u="none" strike="noStrike" kern="1200" cap="none" normalizeH="0" baseline="0" dirty="0">
                <a:ln>
                  <a:noFill/>
                </a:ln>
                <a:solidFill>
                  <a:schemeClr val="tx1">
                    <a:lumMod val="75000"/>
                    <a:lumOff val="25000"/>
                  </a:schemeClr>
                </a:solidFill>
                <a:effectLst/>
              </a:rPr>
              <a:t> des </a:t>
            </a:r>
            <a:r>
              <a:rPr kumimoji="0" lang="en-US" altLang="zh-CN" sz="1100" b="0" i="0" u="none" strike="noStrike" kern="1200" cap="none" normalizeH="0" baseline="0" dirty="0" err="1">
                <a:ln>
                  <a:noFill/>
                </a:ln>
                <a:solidFill>
                  <a:schemeClr val="tx1">
                    <a:lumMod val="75000"/>
                    <a:lumOff val="25000"/>
                  </a:schemeClr>
                </a:solidFill>
                <a:effectLst/>
              </a:rPr>
              <a:t>Etats</a:t>
            </a:r>
            <a:r>
              <a:rPr kumimoji="0" lang="en-US" altLang="zh-CN" sz="1100" b="0" i="0" u="none" strike="noStrike" kern="1200" cap="none" normalizeH="0" baseline="0" dirty="0">
                <a:ln>
                  <a:noFill/>
                </a:ln>
                <a:solidFill>
                  <a:schemeClr val="tx1">
                    <a:lumMod val="75000"/>
                    <a:lumOff val="25000"/>
                  </a:schemeClr>
                </a:solidFill>
                <a:effectLst/>
              </a:rPr>
              <a:t>-Unis</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8 Po = les données </a:t>
            </a:r>
            <a:r>
              <a:rPr kumimoji="0" lang="en-US" altLang="zh-CN" sz="1100" b="0" i="0" u="none" strike="noStrike" kern="1200" cap="none" normalizeH="0" baseline="0" dirty="0" err="1">
                <a:ln>
                  <a:noFill/>
                </a:ln>
                <a:solidFill>
                  <a:schemeClr val="tx1">
                    <a:lumMod val="75000"/>
                    <a:lumOff val="25000"/>
                  </a:schemeClr>
                </a:solidFill>
                <a:effectLst/>
              </a:rPr>
              <a:t>disponibles</a:t>
            </a:r>
            <a:r>
              <a:rPr kumimoji="0" lang="en-US" altLang="zh-CN" sz="1100" b="0" i="0" u="none" strike="noStrike" kern="1200" cap="none" normalizeH="0" baseline="0" dirty="0">
                <a:ln>
                  <a:noFill/>
                </a:ln>
                <a:solidFill>
                  <a:schemeClr val="tx1">
                    <a:lumMod val="75000"/>
                    <a:lumOff val="25000"/>
                  </a:schemeClr>
                </a:solidFill>
                <a:effectLst/>
              </a:rPr>
              <a:t> sur le Web</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20 Po = </a:t>
            </a:r>
            <a:r>
              <a:rPr kumimoji="0" lang="en-US" altLang="zh-CN" sz="1100" b="0" i="0" u="none" strike="noStrike" kern="1200" cap="none" normalizeH="0" baseline="0" dirty="0" err="1">
                <a:ln>
                  <a:noFill/>
                </a:ln>
                <a:solidFill>
                  <a:schemeClr val="tx1">
                    <a:lumMod val="75000"/>
                    <a:lumOff val="25000"/>
                  </a:schemeClr>
                </a:solidFill>
                <a:effectLst/>
              </a:rPr>
              <a:t>l'ensemble</a:t>
            </a:r>
            <a:r>
              <a:rPr kumimoji="0" lang="en-US" altLang="zh-CN" sz="1100" b="0" i="0" u="none" strike="noStrike" kern="1200" cap="none" normalizeH="0" baseline="0" dirty="0">
                <a:ln>
                  <a:noFill/>
                </a:ln>
                <a:solidFill>
                  <a:schemeClr val="tx1">
                    <a:lumMod val="75000"/>
                    <a:lumOff val="25000"/>
                  </a:schemeClr>
                </a:solidFill>
                <a:effectLst/>
              </a:rPr>
              <a:t> des </a:t>
            </a:r>
            <a:r>
              <a:rPr kumimoji="0" lang="en-US" altLang="zh-CN" sz="1100" b="0" i="0" u="none" strike="noStrike" kern="1200" cap="none" normalizeH="0" baseline="0" dirty="0" err="1">
                <a:ln>
                  <a:noFill/>
                </a:ln>
                <a:solidFill>
                  <a:schemeClr val="tx1">
                    <a:lumMod val="75000"/>
                    <a:lumOff val="25000"/>
                  </a:schemeClr>
                </a:solidFill>
                <a:effectLst/>
              </a:rPr>
              <a:t>disques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durs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produits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en</a:t>
            </a:r>
            <a:r>
              <a:rPr kumimoji="0" lang="en-US" altLang="zh-CN" sz="1100" b="0" i="0" u="none" strike="noStrike" kern="1200" cap="none" normalizeH="0" baseline="0" dirty="0">
                <a:ln>
                  <a:noFill/>
                </a:ln>
                <a:solidFill>
                  <a:schemeClr val="tx1">
                    <a:lumMod val="75000"/>
                    <a:lumOff val="25000"/>
                  </a:schemeClr>
                </a:solidFill>
                <a:effectLst/>
              </a:rPr>
              <a:t> 1995</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200 Po = </a:t>
            </a:r>
            <a:r>
              <a:rPr kumimoji="0" lang="en-US" altLang="zh-CN" sz="1100" b="0" i="0" u="none" strike="noStrike" kern="1200" cap="none" normalizeH="0" baseline="0" dirty="0" err="1">
                <a:ln>
                  <a:noFill/>
                </a:ln>
                <a:solidFill>
                  <a:schemeClr val="tx1">
                    <a:lumMod val="75000"/>
                    <a:lumOff val="25000"/>
                  </a:schemeClr>
                </a:solidFill>
                <a:effectLst/>
              </a:rPr>
              <a:t>l'ensemble</a:t>
            </a:r>
            <a:r>
              <a:rPr kumimoji="0" lang="en-US" altLang="zh-CN" sz="1100" b="0" i="0" u="none" strike="noStrike" kern="1200" cap="none" normalizeH="0" baseline="0" dirty="0">
                <a:ln>
                  <a:noFill/>
                </a:ln>
                <a:solidFill>
                  <a:schemeClr val="tx1">
                    <a:lumMod val="75000"/>
                    <a:lumOff val="25000"/>
                  </a:schemeClr>
                </a:solidFill>
                <a:effectLst/>
              </a:rPr>
              <a:t> des </a:t>
            </a:r>
            <a:r>
              <a:rPr kumimoji="0" lang="en-US" altLang="zh-CN" sz="1100" b="0" i="0" u="none" strike="noStrike" kern="1200" cap="none" normalizeH="0" baseline="0" dirty="0" err="1">
                <a:ln>
                  <a:noFill/>
                </a:ln>
                <a:solidFill>
                  <a:schemeClr val="tx1">
                    <a:lumMod val="75000"/>
                    <a:lumOff val="25000"/>
                  </a:schemeClr>
                </a:solidFill>
                <a:effectLst/>
              </a:rPr>
              <a:t>bandes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magnétiques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produites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en</a:t>
            </a:r>
            <a:r>
              <a:rPr kumimoji="0" lang="en-US" altLang="zh-CN" sz="1100" b="0" i="0" u="none" strike="noStrike" kern="1200" cap="none" normalizeH="0" baseline="0" dirty="0">
                <a:ln>
                  <a:noFill/>
                </a:ln>
                <a:solidFill>
                  <a:schemeClr val="tx1">
                    <a:lumMod val="75000"/>
                    <a:lumOff val="25000"/>
                  </a:schemeClr>
                </a:solidFill>
                <a:effectLst/>
              </a:rPr>
              <a:t> 1995</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1 </a:t>
            </a:r>
            <a:r>
              <a:rPr kumimoji="0" lang="en-US" altLang="zh-CN" sz="1100" b="0" i="0" u="none" strike="noStrike" kern="1200" cap="none" normalizeH="0" baseline="0" dirty="0" err="1">
                <a:ln>
                  <a:noFill/>
                </a:ln>
                <a:solidFill>
                  <a:schemeClr val="tx1">
                    <a:lumMod val="75000"/>
                    <a:lumOff val="25000"/>
                  </a:schemeClr>
                </a:solidFill>
                <a:effectLst/>
              </a:rPr>
              <a:t>exaoctet</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Eo</a:t>
            </a:r>
            <a:r>
              <a:rPr kumimoji="0" lang="en-US" altLang="zh-CN" sz="1100" b="0" i="0" u="none" strike="noStrike" kern="1200" cap="none" normalizeH="0" baseline="0" dirty="0">
                <a:ln>
                  <a:noFill/>
                </a:ln>
                <a:solidFill>
                  <a:schemeClr val="tx1">
                    <a:lumMod val="75000"/>
                    <a:lumOff val="25000"/>
                  </a:schemeClr>
                </a:solidFill>
                <a:effectLst/>
              </a:rPr>
              <a:t>) = 1 milliard de milliards </a:t>
            </a:r>
            <a:r>
              <a:rPr kumimoji="0" lang="en-US" altLang="zh-CN" sz="1100" b="0" i="0" u="none" strike="noStrike" kern="1200" cap="none" normalizeH="0" baseline="0" dirty="0" err="1">
                <a:ln>
                  <a:noFill/>
                </a:ln>
                <a:solidFill>
                  <a:schemeClr val="tx1">
                    <a:lumMod val="75000"/>
                    <a:lumOff val="25000"/>
                  </a:schemeClr>
                </a:solidFill>
                <a:effectLst/>
              </a:rPr>
              <a:t>d'octets</a:t>
            </a:r>
            <a:endParaRPr kumimoji="0" lang="en-US" altLang="zh-CN" sz="1100" b="0" i="0" u="none" strike="noStrike" kern="1200" cap="none" normalizeH="0" baseline="0" dirty="0">
              <a:ln>
                <a:noFill/>
              </a:ln>
              <a:solidFill>
                <a:schemeClr val="tx1">
                  <a:lumMod val="75000"/>
                  <a:lumOff val="25000"/>
                </a:schemeClr>
              </a:solidFill>
              <a:effectLst/>
            </a:endParaRP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2 </a:t>
            </a:r>
            <a:r>
              <a:rPr kumimoji="0" lang="en-US" altLang="zh-CN" sz="1100" b="0" i="0" u="none" strike="noStrike" kern="1200" cap="none" normalizeH="0" baseline="0" dirty="0" err="1">
                <a:ln>
                  <a:noFill/>
                </a:ln>
                <a:solidFill>
                  <a:schemeClr val="tx1">
                    <a:lumMod val="75000"/>
                    <a:lumOff val="25000"/>
                  </a:schemeClr>
                </a:solidFill>
                <a:effectLst/>
              </a:rPr>
              <a:t>Eo</a:t>
            </a:r>
            <a:r>
              <a:rPr kumimoji="0" lang="en-US" altLang="zh-CN" sz="1100" b="0" i="0" u="none" strike="noStrike" kern="1200" cap="none" normalizeH="0" baseline="0" dirty="0">
                <a:ln>
                  <a:noFill/>
                </a:ln>
                <a:solidFill>
                  <a:schemeClr val="tx1">
                    <a:lumMod val="75000"/>
                    <a:lumOff val="25000"/>
                  </a:schemeClr>
                </a:solidFill>
                <a:effectLst/>
              </a:rPr>
              <a:t> = le volume </a:t>
            </a:r>
            <a:r>
              <a:rPr kumimoji="0" lang="en-US" altLang="zh-CN" sz="1100" b="0" i="0" u="none" strike="noStrike" kern="1200" cap="none" normalizeH="0" baseline="0" dirty="0" err="1">
                <a:ln>
                  <a:noFill/>
                </a:ln>
                <a:solidFill>
                  <a:schemeClr val="tx1">
                    <a:lumMod val="75000"/>
                    <a:lumOff val="25000"/>
                  </a:schemeClr>
                </a:solidFill>
                <a:effectLst/>
              </a:rPr>
              <a:t>annuel</a:t>
            </a:r>
            <a:r>
              <a:rPr kumimoji="0" lang="en-US" altLang="zh-CN" sz="1100" b="0" i="0" u="none" strike="noStrike" kern="1200" cap="none" normalizeH="0" baseline="0" dirty="0">
                <a:ln>
                  <a:noFill/>
                </a:ln>
                <a:solidFill>
                  <a:schemeClr val="tx1">
                    <a:lumMod val="75000"/>
                    <a:lumOff val="25000"/>
                  </a:schemeClr>
                </a:solidFill>
                <a:effectLst/>
              </a:rPr>
              <a:t> des </a:t>
            </a:r>
            <a:r>
              <a:rPr kumimoji="0" lang="en-US" altLang="zh-CN" sz="1100" b="0" i="0" u="none" strike="noStrike" kern="1200" cap="none" normalizeH="0" baseline="0" dirty="0" err="1">
                <a:ln>
                  <a:noFill/>
                </a:ln>
                <a:solidFill>
                  <a:schemeClr val="tx1">
                    <a:lumMod val="75000"/>
                    <a:lumOff val="25000"/>
                  </a:schemeClr>
                </a:solidFill>
                <a:effectLst/>
              </a:rPr>
              <a:t>informations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générées</a:t>
            </a:r>
            <a:r>
              <a:rPr kumimoji="0" lang="en-US" altLang="zh-CN" sz="1100" b="0" i="0" u="none" strike="noStrike" kern="1200" cap="none" normalizeH="0" baseline="0" dirty="0">
                <a:ln>
                  <a:noFill/>
                </a:ln>
                <a:solidFill>
                  <a:schemeClr val="tx1">
                    <a:lumMod val="75000"/>
                    <a:lumOff val="25000"/>
                  </a:schemeClr>
                </a:solidFill>
                <a:effectLst/>
              </a:rPr>
              <a:t> dans le monde</a:t>
            </a:r>
          </a:p>
          <a:p>
            <a:pPr marR="0" lvl="0" indent="0" fontAlgn="base">
              <a:lnSpc>
                <a:spcPct val="90000"/>
              </a:lnSpc>
              <a:spcBef>
                <a:spcPct val="0"/>
              </a:spcBef>
              <a:spcAft>
                <a:spcPts val="600"/>
              </a:spcAft>
              <a:buClrTx/>
              <a:buSzTx/>
              <a:buFontTx/>
              <a:buNone/>
              <a:tabLst/>
            </a:pPr>
            <a:r>
              <a:rPr kumimoji="0" lang="en-US" altLang="zh-CN" sz="1100" b="0" i="0" u="none" strike="noStrike" kern="1200" cap="none" normalizeH="0" baseline="0" dirty="0">
                <a:ln>
                  <a:noFill/>
                </a:ln>
                <a:solidFill>
                  <a:schemeClr val="tx1">
                    <a:lumMod val="75000"/>
                    <a:lumOff val="25000"/>
                  </a:schemeClr>
                </a:solidFill>
                <a:effectLst/>
              </a:rPr>
              <a:t>5 </a:t>
            </a:r>
            <a:r>
              <a:rPr kumimoji="0" lang="en-US" altLang="zh-CN" sz="1100" b="0" i="0" u="none" strike="noStrike" kern="1200" cap="none" normalizeH="0" baseline="0" dirty="0" err="1">
                <a:ln>
                  <a:noFill/>
                </a:ln>
                <a:solidFill>
                  <a:schemeClr val="tx1">
                    <a:lumMod val="75000"/>
                    <a:lumOff val="25000"/>
                  </a:schemeClr>
                </a:solidFill>
                <a:effectLst/>
              </a:rPr>
              <a:t>Eo</a:t>
            </a:r>
            <a:r>
              <a:rPr kumimoji="0" lang="en-US" altLang="zh-CN" sz="1100" b="0" i="0" u="none" strike="noStrike" kern="1200" cap="none" normalizeH="0" baseline="0" dirty="0">
                <a:ln>
                  <a:noFill/>
                </a:ln>
                <a:solidFill>
                  <a:schemeClr val="tx1">
                    <a:lumMod val="75000"/>
                    <a:lumOff val="25000"/>
                  </a:schemeClr>
                </a:solidFill>
                <a:effectLst/>
              </a:rPr>
              <a:t> = </a:t>
            </a:r>
            <a:r>
              <a:rPr kumimoji="0" lang="en-US" altLang="zh-CN" sz="1100" b="0" i="0" u="none" strike="noStrike" kern="1200" cap="none" normalizeH="0" baseline="0" dirty="0" err="1">
                <a:ln>
                  <a:noFill/>
                </a:ln>
                <a:solidFill>
                  <a:schemeClr val="tx1">
                    <a:lumMod val="75000"/>
                    <a:lumOff val="25000"/>
                  </a:schemeClr>
                </a:solidFill>
                <a:effectLst/>
              </a:rPr>
              <a:t>tous</a:t>
            </a:r>
            <a:r>
              <a:rPr kumimoji="0" lang="en-US" altLang="zh-CN" sz="1100" b="0" i="0" u="none" strike="noStrike" kern="1200" cap="none" normalizeH="0" baseline="0" dirty="0">
                <a:ln>
                  <a:noFill/>
                </a:ln>
                <a:solidFill>
                  <a:schemeClr val="tx1">
                    <a:lumMod val="75000"/>
                    <a:lumOff val="25000"/>
                  </a:schemeClr>
                </a:solidFill>
                <a:effectLst/>
              </a:rPr>
              <a:t> les mots </a:t>
            </a:r>
            <a:r>
              <a:rPr kumimoji="0" lang="en-US" altLang="zh-CN" sz="1100" b="0" i="0" u="none" strike="noStrike" kern="1200" cap="none" normalizeH="0" baseline="0" dirty="0" err="1">
                <a:ln>
                  <a:noFill/>
                </a:ln>
                <a:solidFill>
                  <a:schemeClr val="tx1">
                    <a:lumMod val="75000"/>
                    <a:lumOff val="25000"/>
                  </a:schemeClr>
                </a:solidFill>
                <a:effectLst/>
              </a:rPr>
              <a:t>prononcés</a:t>
            </a:r>
            <a:r>
              <a:rPr kumimoji="0" lang="en-US" altLang="zh-CN" sz="1100" b="0" i="0" u="none" strike="noStrike" kern="1200" cap="none" normalizeH="0" baseline="0" dirty="0">
                <a:ln>
                  <a:noFill/>
                </a:ln>
                <a:solidFill>
                  <a:schemeClr val="tx1">
                    <a:lumMod val="75000"/>
                    <a:lumOff val="25000"/>
                  </a:schemeClr>
                </a:solidFill>
                <a:effectLst/>
              </a:rPr>
              <a:t> </a:t>
            </a:r>
            <a:r>
              <a:rPr kumimoji="0" lang="en-US" altLang="zh-CN" sz="1100" b="0" i="0" u="none" strike="noStrike" kern="1200" cap="none" normalizeH="0" baseline="0" dirty="0" err="1">
                <a:ln>
                  <a:noFill/>
                </a:ln>
                <a:solidFill>
                  <a:schemeClr val="tx1">
                    <a:lumMod val="75000"/>
                    <a:lumOff val="25000"/>
                  </a:schemeClr>
                </a:solidFill>
                <a:effectLst/>
              </a:rPr>
              <a:t>depuis</a:t>
            </a:r>
            <a:r>
              <a:rPr kumimoji="0" lang="en-US" altLang="zh-CN" sz="1100" b="0" i="0" u="none" strike="noStrike" kern="1200" cap="none" normalizeH="0" baseline="0" dirty="0">
                <a:ln>
                  <a:noFill/>
                </a:ln>
                <a:solidFill>
                  <a:schemeClr val="tx1">
                    <a:lumMod val="75000"/>
                    <a:lumOff val="25000"/>
                  </a:schemeClr>
                </a:solidFill>
                <a:effectLst/>
              </a:rPr>
              <a:t> le début de </a:t>
            </a:r>
            <a:r>
              <a:rPr kumimoji="0" lang="en-US" altLang="zh-CN" sz="1100" b="0" i="0" u="none" strike="noStrike" kern="1200" cap="none" normalizeH="0" baseline="0" dirty="0" err="1">
                <a:ln>
                  <a:noFill/>
                </a:ln>
                <a:solidFill>
                  <a:schemeClr val="tx1">
                    <a:lumMod val="75000"/>
                    <a:lumOff val="25000"/>
                  </a:schemeClr>
                </a:solidFill>
                <a:effectLst/>
              </a:rPr>
              <a:t>l'humanité</a:t>
            </a:r>
            <a:endParaRPr kumimoji="0" lang="en-US" altLang="zh-CN" sz="1100" b="0" i="0" u="none" strike="noStrike" kern="1200" cap="none" normalizeH="0" baseline="0" dirty="0">
              <a:ln>
                <a:noFill/>
              </a:ln>
              <a:solidFill>
                <a:schemeClr val="tx1">
                  <a:lumMod val="75000"/>
                  <a:lumOff val="25000"/>
                </a:schemeClr>
              </a:solidFill>
              <a:effectLst/>
            </a:endParaRPr>
          </a:p>
        </p:txBody>
      </p:sp>
    </p:spTree>
    <p:extLst>
      <p:ext uri="{BB962C8B-B14F-4D97-AF65-F5344CB8AC3E}">
        <p14:creationId xmlns:p14="http://schemas.microsoft.com/office/powerpoint/2010/main" val="83018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18B088BB-88D7-DA51-24B8-4A16E6DD39EE}"/>
              </a:ext>
            </a:extLst>
          </p:cNvPr>
          <p:cNvSpPr>
            <a:spLocks noGrp="1"/>
          </p:cNvSpPr>
          <p:nvPr>
            <p:ph type="ftr" sz="quarter" idx="12"/>
          </p:nvPr>
        </p:nvSpPr>
        <p:spPr/>
        <p:txBody>
          <a:bodyPr/>
          <a:lstStyle/>
          <a:p>
            <a:pPr rtl="0"/>
            <a:r>
              <a:rPr lang="fr-FR" noProof="0"/>
              <a:t>Ajouter un pied de page</a:t>
            </a:r>
          </a:p>
        </p:txBody>
      </p:sp>
      <p:sp>
        <p:nvSpPr>
          <p:cNvPr id="3" name="Espace réservé du numéro de diapositive 2">
            <a:extLst>
              <a:ext uri="{FF2B5EF4-FFF2-40B4-BE49-F238E27FC236}">
                <a16:creationId xmlns:a16="http://schemas.microsoft.com/office/drawing/2014/main" id="{9F394BC8-A481-7D05-DBC1-5C4428C050F0}"/>
              </a:ext>
            </a:extLst>
          </p:cNvPr>
          <p:cNvSpPr>
            <a:spLocks noGrp="1"/>
          </p:cNvSpPr>
          <p:nvPr>
            <p:ph type="sldNum" sz="quarter" idx="13"/>
          </p:nvPr>
        </p:nvSpPr>
        <p:spPr/>
        <p:txBody>
          <a:bodyPr/>
          <a:lstStyle/>
          <a:p>
            <a:pPr rtl="0"/>
            <a:fld id="{19B51A1E-902D-48AF-9020-955120F399B6}" type="slidenum">
              <a:rPr lang="fr-FR" noProof="0" smtClean="0"/>
              <a:pPr rtl="0"/>
              <a:t>6</a:t>
            </a:fld>
            <a:endParaRPr lang="fr-FR" noProof="0"/>
          </a:p>
        </p:txBody>
      </p:sp>
      <p:sp>
        <p:nvSpPr>
          <p:cNvPr id="4" name="Titre 3">
            <a:extLst>
              <a:ext uri="{FF2B5EF4-FFF2-40B4-BE49-F238E27FC236}">
                <a16:creationId xmlns:a16="http://schemas.microsoft.com/office/drawing/2014/main" id="{E28D1785-2EDA-D70B-A3A7-AD8889B7476D}"/>
              </a:ext>
            </a:extLst>
          </p:cNvPr>
          <p:cNvSpPr>
            <a:spLocks noGrp="1"/>
          </p:cNvSpPr>
          <p:nvPr>
            <p:ph type="title"/>
          </p:nvPr>
        </p:nvSpPr>
        <p:spPr/>
        <p:txBody>
          <a:bodyPr/>
          <a:lstStyle/>
          <a:p>
            <a:endParaRPr lang="fr-FR"/>
          </a:p>
        </p:txBody>
      </p:sp>
      <p:pic>
        <p:nvPicPr>
          <p:cNvPr id="1025" name="image6.png">
            <a:extLst>
              <a:ext uri="{FF2B5EF4-FFF2-40B4-BE49-F238E27FC236}">
                <a16:creationId xmlns:a16="http://schemas.microsoft.com/office/drawing/2014/main" id="{0CC5F903-A1C6-D904-C073-011B0CC59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835" r="8743"/>
          <a:stretch/>
        </p:blipFill>
        <p:spPr bwMode="auto">
          <a:xfrm>
            <a:off x="432000" y="1054500"/>
            <a:ext cx="5473500" cy="4352544"/>
          </a:xfrm>
          <a:prstGeom prst="rect">
            <a:avLst/>
          </a:prstGeom>
          <a:solidFill>
            <a:srgbClr val="FFFFFF"/>
          </a:solidFill>
        </p:spPr>
      </p:pic>
    </p:spTree>
    <p:extLst>
      <p:ext uri="{BB962C8B-B14F-4D97-AF65-F5344CB8AC3E}">
        <p14:creationId xmlns:p14="http://schemas.microsoft.com/office/powerpoint/2010/main" val="473913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pour une image  7" descr="Électronique">
            <a:extLst>
              <a:ext uri="{FF2B5EF4-FFF2-40B4-BE49-F238E27FC236}">
                <a16:creationId xmlns:a16="http://schemas.microsoft.com/office/drawing/2014/main" id="{26BA88B0-F27C-46E7-89F1-F9537D52E4BC}"/>
              </a:ext>
            </a:extLst>
          </p:cNvPr>
          <p:cNvPicPr>
            <a:picLocks noGrp="1" noChangeAspect="1"/>
          </p:cNvPicPr>
          <p:nvPr>
            <p:ph type="pic" sz="quarter" idx="14"/>
          </p:nvPr>
        </p:nvPicPr>
        <p:blipFill>
          <a:blip r:embed="rId3"/>
          <a:srcRect l="711" r="35424" b="1"/>
          <a:stretch/>
        </p:blipFill>
        <p:spPr>
          <a:xfrm>
            <a:off x="20" y="-1"/>
            <a:ext cx="6095980" cy="6371351"/>
          </a:xfrm>
          <a:noFill/>
        </p:spPr>
      </p:pic>
      <p:sp>
        <p:nvSpPr>
          <p:cNvPr id="3" name="Titre 2">
            <a:extLst>
              <a:ext uri="{FF2B5EF4-FFF2-40B4-BE49-F238E27FC236}">
                <a16:creationId xmlns:a16="http://schemas.microsoft.com/office/drawing/2014/main" id="{EFEF0792-39BD-10BD-120C-D18633037566}"/>
              </a:ext>
            </a:extLst>
          </p:cNvPr>
          <p:cNvSpPr>
            <a:spLocks noGrp="1"/>
          </p:cNvSpPr>
          <p:nvPr>
            <p:ph type="title"/>
          </p:nvPr>
        </p:nvSpPr>
        <p:spPr>
          <a:xfrm>
            <a:off x="5118100" y="1869795"/>
            <a:ext cx="6641900" cy="1124345"/>
          </a:xfrm>
        </p:spPr>
        <p:txBody>
          <a:bodyPr anchor="ctr">
            <a:normAutofit/>
          </a:bodyPr>
          <a:lstStyle/>
          <a:p>
            <a:r>
              <a:rPr lang="fr-FR"/>
              <a:t>Données structurées</a:t>
            </a:r>
          </a:p>
        </p:txBody>
      </p:sp>
      <p:sp>
        <p:nvSpPr>
          <p:cNvPr id="13" name="Text Placeholder 3">
            <a:extLst>
              <a:ext uri="{FF2B5EF4-FFF2-40B4-BE49-F238E27FC236}">
                <a16:creationId xmlns:a16="http://schemas.microsoft.com/office/drawing/2014/main" id="{901E3157-33E9-4D7F-0811-3552D3706471}"/>
              </a:ext>
            </a:extLst>
          </p:cNvPr>
          <p:cNvSpPr>
            <a:spLocks noGrp="1"/>
          </p:cNvSpPr>
          <p:nvPr>
            <p:ph type="body" sz="quarter" idx="32"/>
          </p:nvPr>
        </p:nvSpPr>
        <p:spPr>
          <a:xfrm>
            <a:off x="5118334" y="2994141"/>
            <a:ext cx="6641626" cy="590155"/>
          </a:xfrm>
        </p:spPr>
        <p:txBody>
          <a:bodyPr/>
          <a:lstStyle/>
          <a:p>
            <a:endParaRPr lang="en-US"/>
          </a:p>
        </p:txBody>
      </p:sp>
      <p:sp>
        <p:nvSpPr>
          <p:cNvPr id="5" name="Espace réservé du contenu 4">
            <a:extLst>
              <a:ext uri="{FF2B5EF4-FFF2-40B4-BE49-F238E27FC236}">
                <a16:creationId xmlns:a16="http://schemas.microsoft.com/office/drawing/2014/main" id="{B3231071-5D5D-03F2-FE96-E7FC5C5DFD48}"/>
              </a:ext>
            </a:extLst>
          </p:cNvPr>
          <p:cNvSpPr>
            <a:spLocks noGrp="1"/>
          </p:cNvSpPr>
          <p:nvPr>
            <p:ph sz="half" idx="1"/>
          </p:nvPr>
        </p:nvSpPr>
        <p:spPr>
          <a:xfrm>
            <a:off x="6288000" y="3763648"/>
            <a:ext cx="5472000" cy="2428351"/>
          </a:xfrm>
        </p:spPr>
        <p:txBody>
          <a:bodyPr>
            <a:normAutofit/>
          </a:bodyPr>
          <a:lstStyle/>
          <a:p>
            <a:r>
              <a:rPr lang="fr-FR" sz="1500"/>
              <a:t>Données Structurées</a:t>
            </a:r>
          </a:p>
          <a:p>
            <a:pPr lvl="1"/>
            <a:r>
              <a:rPr lang="fr-FR" sz="1500"/>
              <a:t>Organisées de manière prédéfinie</a:t>
            </a:r>
          </a:p>
          <a:p>
            <a:pPr lvl="1"/>
            <a:r>
              <a:rPr lang="fr-FR" sz="1500"/>
              <a:t>Facilement analysables par des algorithmes informatiques</a:t>
            </a:r>
          </a:p>
          <a:p>
            <a:pPr lvl="1"/>
            <a:r>
              <a:rPr lang="fr-FR" sz="1500"/>
              <a:t>Stockées dans des bases de données relationnelles</a:t>
            </a:r>
          </a:p>
          <a:p>
            <a:r>
              <a:rPr lang="fr-FR" sz="1500"/>
              <a:t>Exemples de Données Structurées</a:t>
            </a:r>
          </a:p>
          <a:p>
            <a:pPr lvl="1"/>
            <a:r>
              <a:rPr lang="fr-FR" sz="1500"/>
              <a:t>Enregistrements de transactions financières</a:t>
            </a:r>
          </a:p>
          <a:p>
            <a:pPr lvl="1"/>
            <a:r>
              <a:rPr lang="fr-FR" sz="1500"/>
              <a:t>Informations de clients dans un CRM</a:t>
            </a:r>
          </a:p>
          <a:p>
            <a:pPr lvl="1"/>
            <a:r>
              <a:rPr lang="fr-FR" sz="1500"/>
              <a:t>Résultats de capteurs sous forme de tableau</a:t>
            </a:r>
          </a:p>
        </p:txBody>
      </p:sp>
      <p:sp>
        <p:nvSpPr>
          <p:cNvPr id="6" name="Espace réservé du pied de page 5">
            <a:extLst>
              <a:ext uri="{FF2B5EF4-FFF2-40B4-BE49-F238E27FC236}">
                <a16:creationId xmlns:a16="http://schemas.microsoft.com/office/drawing/2014/main" id="{68DFFA76-D32D-091D-30E7-AE654B6296C8}"/>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C72020D6-86F2-06B0-B1EB-30A4B104B7C8}"/>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7</a:t>
            </a:fld>
            <a:endParaRPr lang="fr-FR" noProof="0"/>
          </a:p>
        </p:txBody>
      </p:sp>
    </p:spTree>
    <p:extLst>
      <p:ext uri="{BB962C8B-B14F-4D97-AF65-F5344CB8AC3E}">
        <p14:creationId xmlns:p14="http://schemas.microsoft.com/office/powerpoint/2010/main" val="383859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FD47F52F-B8E1-B1C3-4142-009990938E70}"/>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24BB8B2C-D81E-85E9-4D80-AD2DDBEB6154}"/>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8</a:t>
            </a:fld>
            <a:endParaRPr lang="fr-FR" noProof="0"/>
          </a:p>
        </p:txBody>
      </p:sp>
      <p:sp>
        <p:nvSpPr>
          <p:cNvPr id="3" name="Titre 2">
            <a:extLst>
              <a:ext uri="{FF2B5EF4-FFF2-40B4-BE49-F238E27FC236}">
                <a16:creationId xmlns:a16="http://schemas.microsoft.com/office/drawing/2014/main" id="{E381DA92-5524-F25B-144D-9B76BC2DCED6}"/>
              </a:ext>
            </a:extLst>
          </p:cNvPr>
          <p:cNvSpPr>
            <a:spLocks noGrp="1"/>
          </p:cNvSpPr>
          <p:nvPr>
            <p:ph type="title"/>
          </p:nvPr>
        </p:nvSpPr>
        <p:spPr>
          <a:xfrm>
            <a:off x="432000" y="432000"/>
            <a:ext cx="11328000" cy="432000"/>
          </a:xfrm>
        </p:spPr>
        <p:txBody>
          <a:bodyPr anchor="ctr">
            <a:normAutofit/>
          </a:bodyPr>
          <a:lstStyle/>
          <a:p>
            <a:r>
              <a:rPr lang="fr-FR" sz="3000"/>
              <a:t>Données non structurées</a:t>
            </a:r>
          </a:p>
        </p:txBody>
      </p:sp>
      <p:sp>
        <p:nvSpPr>
          <p:cNvPr id="5" name="Espace réservé du contenu 4">
            <a:extLst>
              <a:ext uri="{FF2B5EF4-FFF2-40B4-BE49-F238E27FC236}">
                <a16:creationId xmlns:a16="http://schemas.microsoft.com/office/drawing/2014/main" id="{92EE8B31-B7DE-CEEA-9240-379B8A7EB71B}"/>
              </a:ext>
            </a:extLst>
          </p:cNvPr>
          <p:cNvSpPr>
            <a:spLocks noGrp="1"/>
          </p:cNvSpPr>
          <p:nvPr>
            <p:ph sz="half" idx="4294967295"/>
          </p:nvPr>
        </p:nvSpPr>
        <p:spPr>
          <a:xfrm>
            <a:off x="432000" y="1054500"/>
            <a:ext cx="11328000" cy="4352544"/>
          </a:xfrm>
        </p:spPr>
        <p:txBody>
          <a:bodyPr anchor="t">
            <a:normAutofit/>
          </a:bodyPr>
          <a:lstStyle/>
          <a:p>
            <a:pPr marL="0"/>
            <a:r>
              <a:rPr lang="en-US" kern="1200"/>
              <a:t>Données non structurées</a:t>
            </a:r>
          </a:p>
          <a:p>
            <a:pPr marL="0" lvl="1"/>
            <a:r>
              <a:rPr lang="en-US" sz="1800" kern="1200"/>
              <a:t>Ne suivent pas une organisation spécifique</a:t>
            </a:r>
          </a:p>
          <a:p>
            <a:pPr marL="0" lvl="1"/>
            <a:r>
              <a:rPr lang="en-US" sz="1800" kern="1200"/>
              <a:t>Difficiles à analyser sans prétraitement</a:t>
            </a:r>
          </a:p>
          <a:p>
            <a:pPr marL="0" lvl="1"/>
            <a:r>
              <a:rPr lang="en-US" sz="1800" kern="1200"/>
              <a:t>Incluent des textes libres, des images, des vidéos, des courriels, et des publications sur les réseaux sociaux</a:t>
            </a:r>
          </a:p>
          <a:p>
            <a:pPr marL="0"/>
            <a:r>
              <a:rPr lang="en-US" kern="1200"/>
              <a:t>Exemples de données non structurées</a:t>
            </a:r>
          </a:p>
          <a:p>
            <a:pPr marL="0" lvl="1"/>
            <a:r>
              <a:rPr lang="en-US" sz="1800" kern="1200"/>
              <a:t>Commentaires sur des plateformes de médias sociaux</a:t>
            </a:r>
          </a:p>
          <a:p>
            <a:pPr marL="0" lvl="1"/>
            <a:r>
              <a:rPr lang="en-US" sz="1800" kern="1200"/>
              <a:t>Vidéos téléchargées sur YouTube</a:t>
            </a:r>
          </a:p>
          <a:p>
            <a:pPr marL="0" lvl="1"/>
            <a:r>
              <a:rPr lang="en-US" sz="1800" kern="1200"/>
              <a:t>Courriels envoyés et reçus</a:t>
            </a:r>
          </a:p>
          <a:p>
            <a:pPr marL="0"/>
            <a:r>
              <a:rPr lang="en-US" kern="1200"/>
              <a:t>Importance de la gestion et de l'analyse</a:t>
            </a:r>
          </a:p>
          <a:p>
            <a:pPr marL="0" lvl="1"/>
            <a:r>
              <a:rPr lang="en-US" sz="1800" kern="1200"/>
              <a:t>Cruciale pour tirer le meilleur parti des informations disponibles</a:t>
            </a:r>
          </a:p>
          <a:p>
            <a:pPr marL="0" lvl="1"/>
            <a:r>
              <a:rPr lang="en-US" sz="1800" kern="1200"/>
              <a:t>Permet de prendre des décisions éclairées</a:t>
            </a:r>
          </a:p>
        </p:txBody>
      </p:sp>
    </p:spTree>
    <p:extLst>
      <p:ext uri="{BB962C8B-B14F-4D97-AF65-F5344CB8AC3E}">
        <p14:creationId xmlns:p14="http://schemas.microsoft.com/office/powerpoint/2010/main" val="1625099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66DAE5F1-426D-7AAE-81C0-65AD85ED9EB2}"/>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A6883BAE-B9AB-548D-4B2E-501D613A8CE4}"/>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9</a:t>
            </a:fld>
            <a:endParaRPr lang="fr-FR" noProof="0"/>
          </a:p>
        </p:txBody>
      </p:sp>
      <p:sp>
        <p:nvSpPr>
          <p:cNvPr id="3" name="Titre 2">
            <a:extLst>
              <a:ext uri="{FF2B5EF4-FFF2-40B4-BE49-F238E27FC236}">
                <a16:creationId xmlns:a16="http://schemas.microsoft.com/office/drawing/2014/main" id="{4BFD771C-B5F5-6046-3187-453C364EA4FC}"/>
              </a:ext>
            </a:extLst>
          </p:cNvPr>
          <p:cNvSpPr>
            <a:spLocks noGrp="1"/>
          </p:cNvSpPr>
          <p:nvPr>
            <p:ph type="title"/>
          </p:nvPr>
        </p:nvSpPr>
        <p:spPr>
          <a:xfrm>
            <a:off x="432000" y="432000"/>
            <a:ext cx="11328000" cy="432000"/>
          </a:xfrm>
        </p:spPr>
        <p:txBody>
          <a:bodyPr anchor="ctr">
            <a:normAutofit/>
          </a:bodyPr>
          <a:lstStyle/>
          <a:p>
            <a:r>
              <a:rPr lang="fr-FR" sz="3000"/>
              <a:t>Les 3 V du Big Data</a:t>
            </a:r>
          </a:p>
        </p:txBody>
      </p:sp>
      <p:sp>
        <p:nvSpPr>
          <p:cNvPr id="5" name="Espace réservé du contenu 4">
            <a:extLst>
              <a:ext uri="{FF2B5EF4-FFF2-40B4-BE49-F238E27FC236}">
                <a16:creationId xmlns:a16="http://schemas.microsoft.com/office/drawing/2014/main" id="{8A636999-4981-97AB-B93B-AE2CBE6137A7}"/>
              </a:ext>
            </a:extLst>
          </p:cNvPr>
          <p:cNvSpPr>
            <a:spLocks noGrp="1"/>
          </p:cNvSpPr>
          <p:nvPr>
            <p:ph sz="half" idx="4294967295"/>
          </p:nvPr>
        </p:nvSpPr>
        <p:spPr>
          <a:xfrm>
            <a:off x="432000" y="1054500"/>
            <a:ext cx="5473500" cy="4352544"/>
          </a:xfrm>
        </p:spPr>
        <p:txBody>
          <a:bodyPr anchor="t">
            <a:normAutofit/>
          </a:bodyPr>
          <a:lstStyle/>
          <a:p>
            <a:pPr marL="0"/>
            <a:r>
              <a:rPr lang="en-US" kern="1200"/>
              <a:t>Volume</a:t>
            </a:r>
          </a:p>
          <a:p>
            <a:pPr marL="0" lvl="1"/>
            <a:r>
              <a:rPr lang="en-US" sz="1800" kern="1200"/>
              <a:t>Quantité de données générées, stockées et analysées</a:t>
            </a:r>
          </a:p>
          <a:p>
            <a:pPr marL="0" lvl="1"/>
            <a:r>
              <a:rPr lang="en-US" sz="1800" kern="1200"/>
              <a:t>Ordre des téraoctets ou des pétaoctets</a:t>
            </a:r>
          </a:p>
          <a:p>
            <a:pPr marL="0"/>
            <a:r>
              <a:rPr lang="en-US" kern="1200"/>
              <a:t>Variété</a:t>
            </a:r>
          </a:p>
          <a:p>
            <a:pPr marL="0" lvl="1"/>
            <a:r>
              <a:rPr lang="en-US" sz="1800" kern="1200"/>
              <a:t>Données provenant de multiples sources</a:t>
            </a:r>
          </a:p>
          <a:p>
            <a:pPr marL="0" lvl="1"/>
            <a:r>
              <a:rPr lang="en-US" sz="1800" kern="1200"/>
              <a:t>Formes diverses : structurées, semi-structurées et non structurées</a:t>
            </a:r>
          </a:p>
          <a:p>
            <a:pPr marL="0"/>
            <a:r>
              <a:rPr lang="en-US" kern="1200"/>
              <a:t>Vélocité</a:t>
            </a:r>
          </a:p>
          <a:p>
            <a:pPr marL="0" lvl="1"/>
            <a:r>
              <a:rPr lang="en-US" sz="1800" kern="1200"/>
              <a:t>Vitesse de génération et de traitement des données</a:t>
            </a:r>
          </a:p>
          <a:p>
            <a:pPr marL="0" lvl="1"/>
            <a:r>
              <a:rPr lang="en-US" sz="1800" kern="1200"/>
              <a:t>Traitement parfois en temps réel</a:t>
            </a:r>
          </a:p>
        </p:txBody>
      </p:sp>
      <p:pic>
        <p:nvPicPr>
          <p:cNvPr id="2" name="image4.png">
            <a:extLst>
              <a:ext uri="{FF2B5EF4-FFF2-40B4-BE49-F238E27FC236}">
                <a16:creationId xmlns:a16="http://schemas.microsoft.com/office/drawing/2014/main" id="{93B15F70-10DC-A0BB-3EA4-E92CD9604A11}"/>
              </a:ext>
            </a:extLst>
          </p:cNvPr>
          <p:cNvPicPr>
            <a:picLocks noChangeAspect="1"/>
          </p:cNvPicPr>
          <p:nvPr/>
        </p:nvPicPr>
        <p:blipFill>
          <a:blip r:embed="rId3"/>
          <a:srcRect l="10515" r="7747" b="3"/>
          <a:stretch/>
        </p:blipFill>
        <p:spPr bwMode="auto">
          <a:xfrm>
            <a:off x="6286500" y="1054500"/>
            <a:ext cx="5473500" cy="4352544"/>
          </a:xfrm>
          <a:prstGeom prst="rect">
            <a:avLst/>
          </a:prstGeom>
          <a:noFill/>
        </p:spPr>
      </p:pic>
    </p:spTree>
    <p:extLst>
      <p:ext uri="{BB962C8B-B14F-4D97-AF65-F5344CB8AC3E}">
        <p14:creationId xmlns:p14="http://schemas.microsoft.com/office/powerpoint/2010/main" val="1358094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67FBC6D0-7EAE-380E-0AB1-48110707DAD1}"/>
              </a:ext>
            </a:extLst>
          </p:cNvPr>
          <p:cNvSpPr>
            <a:spLocks noGrp="1"/>
          </p:cNvSpPr>
          <p:nvPr>
            <p:ph type="pic" sz="quarter" idx="14"/>
          </p:nvPr>
        </p:nvSpPr>
        <p:spPr>
          <a:xfrm>
            <a:off x="0" y="-1"/>
            <a:ext cx="6096000" cy="6371351"/>
          </a:xfrm>
        </p:spPr>
        <p:txBody>
          <a:bodyPr/>
          <a:lstStyle/>
          <a:p>
            <a:endParaRPr lang="fr-FR"/>
          </a:p>
        </p:txBody>
      </p:sp>
      <p:sp>
        <p:nvSpPr>
          <p:cNvPr id="3" name="Titre 2">
            <a:extLst>
              <a:ext uri="{FF2B5EF4-FFF2-40B4-BE49-F238E27FC236}">
                <a16:creationId xmlns:a16="http://schemas.microsoft.com/office/drawing/2014/main" id="{946718DD-A925-254D-FBF4-8C2F6902DC4A}"/>
              </a:ext>
            </a:extLst>
          </p:cNvPr>
          <p:cNvSpPr>
            <a:spLocks noGrp="1"/>
          </p:cNvSpPr>
          <p:nvPr>
            <p:ph type="title"/>
          </p:nvPr>
        </p:nvSpPr>
        <p:spPr>
          <a:xfrm>
            <a:off x="5118100" y="1869795"/>
            <a:ext cx="6641900" cy="1124345"/>
          </a:xfrm>
        </p:spPr>
        <p:txBody>
          <a:bodyPr anchor="ctr">
            <a:normAutofit/>
          </a:bodyPr>
          <a:lstStyle/>
          <a:p>
            <a:r>
              <a:rPr lang="fr-FR" sz="3700"/>
              <a:t>Autres caractéristiques du Big Data</a:t>
            </a:r>
          </a:p>
        </p:txBody>
      </p:sp>
      <p:sp>
        <p:nvSpPr>
          <p:cNvPr id="14" name="Text Placeholder 3">
            <a:extLst>
              <a:ext uri="{FF2B5EF4-FFF2-40B4-BE49-F238E27FC236}">
                <a16:creationId xmlns:a16="http://schemas.microsoft.com/office/drawing/2014/main" id="{E8A8A3DA-5930-F901-B20D-5834149F7D29}"/>
              </a:ext>
            </a:extLst>
          </p:cNvPr>
          <p:cNvSpPr>
            <a:spLocks noGrp="1"/>
          </p:cNvSpPr>
          <p:nvPr>
            <p:ph type="body" sz="quarter" idx="32"/>
          </p:nvPr>
        </p:nvSpPr>
        <p:spPr>
          <a:xfrm>
            <a:off x="5118334" y="2994141"/>
            <a:ext cx="6641626" cy="590155"/>
          </a:xfrm>
        </p:spPr>
        <p:txBody>
          <a:bodyPr/>
          <a:lstStyle/>
          <a:p>
            <a:endParaRPr lang="en-US"/>
          </a:p>
        </p:txBody>
      </p:sp>
      <p:sp>
        <p:nvSpPr>
          <p:cNvPr id="5" name="Espace réservé du contenu 4">
            <a:extLst>
              <a:ext uri="{FF2B5EF4-FFF2-40B4-BE49-F238E27FC236}">
                <a16:creationId xmlns:a16="http://schemas.microsoft.com/office/drawing/2014/main" id="{8A4B8D89-7CA0-02BB-6DF6-DA6284F62BF6}"/>
              </a:ext>
            </a:extLst>
          </p:cNvPr>
          <p:cNvSpPr>
            <a:spLocks noGrp="1"/>
          </p:cNvSpPr>
          <p:nvPr>
            <p:ph sz="half" idx="1"/>
          </p:nvPr>
        </p:nvSpPr>
        <p:spPr>
          <a:xfrm>
            <a:off x="6288000" y="3763648"/>
            <a:ext cx="5472000" cy="2428351"/>
          </a:xfrm>
        </p:spPr>
        <p:txBody>
          <a:bodyPr>
            <a:normAutofit/>
          </a:bodyPr>
          <a:lstStyle/>
          <a:p>
            <a:r>
              <a:rPr lang="fr-FR"/>
              <a:t>Véracité</a:t>
            </a:r>
          </a:p>
          <a:p>
            <a:pPr lvl="1"/>
            <a:r>
              <a:rPr lang="fr-FR" sz="1800"/>
              <a:t>Qualité des données</a:t>
            </a:r>
          </a:p>
          <a:p>
            <a:pPr lvl="1"/>
            <a:r>
              <a:rPr lang="fr-FR" sz="1800"/>
              <a:t>Fiabilité des données</a:t>
            </a:r>
          </a:p>
          <a:p>
            <a:r>
              <a:rPr lang="fr-FR"/>
              <a:t>Valeur</a:t>
            </a:r>
          </a:p>
          <a:p>
            <a:pPr lvl="1"/>
            <a:r>
              <a:rPr lang="fr-FR" sz="1800"/>
              <a:t>Transformation des données brutes</a:t>
            </a:r>
          </a:p>
          <a:p>
            <a:pPr lvl="1"/>
            <a:r>
              <a:rPr lang="fr-FR" sz="1800"/>
              <a:t>Informations utiles</a:t>
            </a:r>
          </a:p>
        </p:txBody>
      </p:sp>
      <p:sp>
        <p:nvSpPr>
          <p:cNvPr id="6" name="Espace réservé du pied de page 5">
            <a:extLst>
              <a:ext uri="{FF2B5EF4-FFF2-40B4-BE49-F238E27FC236}">
                <a16:creationId xmlns:a16="http://schemas.microsoft.com/office/drawing/2014/main" id="{CF0224F8-5E24-983F-C824-449046E028FD}"/>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5C4B1E45-756D-7812-469D-149F1AD9D485}"/>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10</a:t>
            </a:fld>
            <a:endParaRPr lang="fr-FR" noProof="0"/>
          </a:p>
        </p:txBody>
      </p:sp>
    </p:spTree>
    <p:extLst>
      <p:ext uri="{BB962C8B-B14F-4D97-AF65-F5344CB8AC3E}">
        <p14:creationId xmlns:p14="http://schemas.microsoft.com/office/powerpoint/2010/main" val="4200383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4C741F3F-E6C2-C635-9662-ECB67B1C7119}"/>
              </a:ext>
            </a:extLst>
          </p:cNvPr>
          <p:cNvSpPr>
            <a:spLocks noGrp="1"/>
          </p:cNvSpPr>
          <p:nvPr>
            <p:ph type="pic" sz="quarter" idx="14"/>
          </p:nvPr>
        </p:nvSpPr>
        <p:spPr>
          <a:xfrm>
            <a:off x="0" y="-1"/>
            <a:ext cx="6096000" cy="6371351"/>
          </a:xfrm>
        </p:spPr>
        <p:txBody>
          <a:bodyPr/>
          <a:lstStyle/>
          <a:p>
            <a:endParaRPr lang="fr-FR"/>
          </a:p>
        </p:txBody>
      </p:sp>
      <p:sp>
        <p:nvSpPr>
          <p:cNvPr id="3" name="Titre 2">
            <a:extLst>
              <a:ext uri="{FF2B5EF4-FFF2-40B4-BE49-F238E27FC236}">
                <a16:creationId xmlns:a16="http://schemas.microsoft.com/office/drawing/2014/main" id="{832CAC73-6BC3-E8B8-326E-40ED4DEA567B}"/>
              </a:ext>
            </a:extLst>
          </p:cNvPr>
          <p:cNvSpPr>
            <a:spLocks noGrp="1"/>
          </p:cNvSpPr>
          <p:nvPr>
            <p:ph type="title"/>
          </p:nvPr>
        </p:nvSpPr>
        <p:spPr>
          <a:xfrm>
            <a:off x="5118100" y="1869795"/>
            <a:ext cx="6641900" cy="1124345"/>
          </a:xfrm>
        </p:spPr>
        <p:txBody>
          <a:bodyPr anchor="ctr">
            <a:normAutofit/>
          </a:bodyPr>
          <a:lstStyle/>
          <a:p>
            <a:r>
              <a:rPr lang="fr-FR" sz="2600"/>
              <a:t>Importance des bases de données dans le Big Data</a:t>
            </a:r>
          </a:p>
        </p:txBody>
      </p:sp>
      <p:sp>
        <p:nvSpPr>
          <p:cNvPr id="14" name="Text Placeholder 3">
            <a:extLst>
              <a:ext uri="{FF2B5EF4-FFF2-40B4-BE49-F238E27FC236}">
                <a16:creationId xmlns:a16="http://schemas.microsoft.com/office/drawing/2014/main" id="{5A2903E7-C9B0-34EE-DBED-2F858A286589}"/>
              </a:ext>
            </a:extLst>
          </p:cNvPr>
          <p:cNvSpPr>
            <a:spLocks noGrp="1"/>
          </p:cNvSpPr>
          <p:nvPr>
            <p:ph type="body" sz="quarter" idx="32"/>
          </p:nvPr>
        </p:nvSpPr>
        <p:spPr>
          <a:xfrm>
            <a:off x="5118334" y="2994141"/>
            <a:ext cx="6641626" cy="590155"/>
          </a:xfrm>
        </p:spPr>
        <p:txBody>
          <a:bodyPr/>
          <a:lstStyle/>
          <a:p>
            <a:endParaRPr lang="en-US"/>
          </a:p>
        </p:txBody>
      </p:sp>
      <p:sp>
        <p:nvSpPr>
          <p:cNvPr id="5" name="Espace réservé du contenu 4">
            <a:extLst>
              <a:ext uri="{FF2B5EF4-FFF2-40B4-BE49-F238E27FC236}">
                <a16:creationId xmlns:a16="http://schemas.microsoft.com/office/drawing/2014/main" id="{BE04B954-08A3-137F-BC1D-D8E2ABAEC024}"/>
              </a:ext>
            </a:extLst>
          </p:cNvPr>
          <p:cNvSpPr>
            <a:spLocks noGrp="1"/>
          </p:cNvSpPr>
          <p:nvPr>
            <p:ph sz="half" idx="1"/>
          </p:nvPr>
        </p:nvSpPr>
        <p:spPr>
          <a:xfrm>
            <a:off x="6288000" y="3763648"/>
            <a:ext cx="5472000" cy="2428351"/>
          </a:xfrm>
        </p:spPr>
        <p:txBody>
          <a:bodyPr>
            <a:normAutofit/>
          </a:bodyPr>
          <a:lstStyle/>
          <a:p>
            <a:r>
              <a:rPr lang="fr-FR" sz="1500"/>
              <a:t>Gestion des volumes de données</a:t>
            </a:r>
          </a:p>
          <a:p>
            <a:pPr lvl="1"/>
            <a:r>
              <a:rPr lang="fr-FR" sz="1500"/>
              <a:t>Permet de gérer efficacement les énormes volumes de données générés</a:t>
            </a:r>
          </a:p>
          <a:p>
            <a:r>
              <a:rPr lang="fr-FR" sz="1500"/>
              <a:t>Stockage des données</a:t>
            </a:r>
          </a:p>
          <a:p>
            <a:pPr lvl="1"/>
            <a:r>
              <a:rPr lang="fr-FR" sz="1500"/>
              <a:t>Fournit une infrastructure robuste pour organiser les données</a:t>
            </a:r>
          </a:p>
          <a:p>
            <a:r>
              <a:rPr lang="fr-FR" sz="1500"/>
              <a:t>Analyse des données</a:t>
            </a:r>
          </a:p>
          <a:p>
            <a:pPr lvl="1"/>
            <a:r>
              <a:rPr lang="fr-FR" sz="1500"/>
              <a:t>Facilite l'extraction et la transformation des données en informations exploitables</a:t>
            </a:r>
          </a:p>
        </p:txBody>
      </p:sp>
      <p:sp>
        <p:nvSpPr>
          <p:cNvPr id="6" name="Espace réservé du pied de page 5">
            <a:extLst>
              <a:ext uri="{FF2B5EF4-FFF2-40B4-BE49-F238E27FC236}">
                <a16:creationId xmlns:a16="http://schemas.microsoft.com/office/drawing/2014/main" id="{D512E507-B0C6-58B7-EA7E-6D9661A99AB6}"/>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52AE7F86-75BC-F606-264C-9E32AA6035F0}"/>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11</a:t>
            </a:fld>
            <a:endParaRPr lang="fr-FR" noProof="0"/>
          </a:p>
        </p:txBody>
      </p:sp>
    </p:spTree>
    <p:extLst>
      <p:ext uri="{BB962C8B-B14F-4D97-AF65-F5344CB8AC3E}">
        <p14:creationId xmlns:p14="http://schemas.microsoft.com/office/powerpoint/2010/main" val="2335728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D954ECCB-D6F4-B508-0597-EAD8B9743F0E}"/>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43E6E048-D8F0-D6DC-04A2-4E9C947A96A5}"/>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12</a:t>
            </a:fld>
            <a:endParaRPr lang="fr-FR" noProof="0"/>
          </a:p>
        </p:txBody>
      </p:sp>
      <p:sp>
        <p:nvSpPr>
          <p:cNvPr id="3" name="Titre 2">
            <a:extLst>
              <a:ext uri="{FF2B5EF4-FFF2-40B4-BE49-F238E27FC236}">
                <a16:creationId xmlns:a16="http://schemas.microsoft.com/office/drawing/2014/main" id="{8A66A853-DEF3-1B52-1DA3-91C248775DEA}"/>
              </a:ext>
            </a:extLst>
          </p:cNvPr>
          <p:cNvSpPr>
            <a:spLocks noGrp="1"/>
          </p:cNvSpPr>
          <p:nvPr>
            <p:ph type="title"/>
          </p:nvPr>
        </p:nvSpPr>
        <p:spPr>
          <a:xfrm>
            <a:off x="432000" y="432000"/>
            <a:ext cx="11328000" cy="432000"/>
          </a:xfrm>
        </p:spPr>
        <p:txBody>
          <a:bodyPr anchor="ctr">
            <a:normAutofit/>
          </a:bodyPr>
          <a:lstStyle/>
          <a:p>
            <a:r>
              <a:rPr lang="fr-FR" sz="3000"/>
              <a:t>Bases de données relationnelles</a:t>
            </a:r>
          </a:p>
        </p:txBody>
      </p:sp>
      <p:sp>
        <p:nvSpPr>
          <p:cNvPr id="5" name="Espace réservé du contenu 4">
            <a:extLst>
              <a:ext uri="{FF2B5EF4-FFF2-40B4-BE49-F238E27FC236}">
                <a16:creationId xmlns:a16="http://schemas.microsoft.com/office/drawing/2014/main" id="{25883221-0C38-4AFC-E303-68FE3E650D68}"/>
              </a:ext>
            </a:extLst>
          </p:cNvPr>
          <p:cNvSpPr>
            <a:spLocks noGrp="1"/>
          </p:cNvSpPr>
          <p:nvPr>
            <p:ph sz="half" idx="4294967295"/>
          </p:nvPr>
        </p:nvSpPr>
        <p:spPr>
          <a:xfrm>
            <a:off x="432000" y="1054500"/>
            <a:ext cx="11328000" cy="4352544"/>
          </a:xfrm>
        </p:spPr>
        <p:txBody>
          <a:bodyPr anchor="t">
            <a:normAutofit/>
          </a:bodyPr>
          <a:lstStyle/>
          <a:p>
            <a:pPr marL="0"/>
            <a:r>
              <a:rPr lang="en-US" kern="1200"/>
              <a:t>Gestion des volumes massifs de données</a:t>
            </a:r>
          </a:p>
          <a:p>
            <a:pPr marL="0" lvl="1"/>
            <a:r>
              <a:rPr lang="en-US" sz="1800" kern="1200"/>
              <a:t>Utilisation d'architectures distribuées</a:t>
            </a:r>
          </a:p>
          <a:p>
            <a:pPr marL="0" lvl="1"/>
            <a:r>
              <a:rPr lang="en-US" sz="1800" kern="1200"/>
              <a:t>Analyse en temps réel de données variées</a:t>
            </a:r>
          </a:p>
          <a:p>
            <a:pPr marL="0"/>
            <a:r>
              <a:rPr lang="en-US" kern="1200"/>
              <a:t>Flexibilité des données</a:t>
            </a:r>
          </a:p>
          <a:p>
            <a:pPr marL="0" lvl="1"/>
            <a:r>
              <a:rPr lang="en-US" sz="1800" kern="1200"/>
              <a:t>Traitement des données structurées et non structurées</a:t>
            </a:r>
          </a:p>
          <a:p>
            <a:pPr marL="0"/>
            <a:r>
              <a:rPr lang="en-US" kern="1200"/>
              <a:t>Bases de données relationnelles pour le Big Data</a:t>
            </a:r>
          </a:p>
          <a:p>
            <a:pPr marL="0" lvl="1"/>
            <a:r>
              <a:rPr lang="en-US" sz="1800" kern="1200"/>
              <a:t>Oracle</a:t>
            </a:r>
          </a:p>
          <a:p>
            <a:pPr marL="0" lvl="2"/>
            <a:r>
              <a:rPr lang="en-US" sz="1800" kern="1200"/>
              <a:t>Performances et scalabilité élevées</a:t>
            </a:r>
          </a:p>
          <a:p>
            <a:pPr marL="0" lvl="2"/>
            <a:r>
              <a:rPr lang="en-US" sz="1800" kern="1200"/>
              <a:t>Gestion de transactions pour applications critiques</a:t>
            </a:r>
          </a:p>
          <a:p>
            <a:pPr marL="0" lvl="1"/>
            <a:r>
              <a:rPr lang="en-US" sz="1800" kern="1200"/>
              <a:t>Microsoft SQL Server</a:t>
            </a:r>
          </a:p>
          <a:p>
            <a:pPr marL="0" lvl="2"/>
            <a:r>
              <a:rPr lang="en-US" sz="1800" kern="1200"/>
              <a:t>Outils puissants pour l'analyse de données</a:t>
            </a:r>
          </a:p>
          <a:p>
            <a:pPr marL="0" lvl="1"/>
            <a:r>
              <a:rPr lang="en-US" sz="1800" kern="1200"/>
              <a:t>PostgreSQL</a:t>
            </a:r>
          </a:p>
        </p:txBody>
      </p:sp>
    </p:spTree>
    <p:extLst>
      <p:ext uri="{BB962C8B-B14F-4D97-AF65-F5344CB8AC3E}">
        <p14:creationId xmlns:p14="http://schemas.microsoft.com/office/powerpoint/2010/main" val="1826137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488D39D5-65C6-9D10-7D77-A3CF15E1BBB1}"/>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0B023AB3-576C-FE92-D668-EE1A433C1526}"/>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13</a:t>
            </a:fld>
            <a:endParaRPr lang="fr-FR" noProof="0"/>
          </a:p>
        </p:txBody>
      </p:sp>
      <p:sp>
        <p:nvSpPr>
          <p:cNvPr id="3" name="Titre 2">
            <a:extLst>
              <a:ext uri="{FF2B5EF4-FFF2-40B4-BE49-F238E27FC236}">
                <a16:creationId xmlns:a16="http://schemas.microsoft.com/office/drawing/2014/main" id="{1A5F29D1-1A64-9DCA-2C98-71DFAAEC1832}"/>
              </a:ext>
            </a:extLst>
          </p:cNvPr>
          <p:cNvSpPr>
            <a:spLocks noGrp="1"/>
          </p:cNvSpPr>
          <p:nvPr>
            <p:ph type="title"/>
          </p:nvPr>
        </p:nvSpPr>
        <p:spPr>
          <a:xfrm>
            <a:off x="432000" y="432000"/>
            <a:ext cx="11328000" cy="432000"/>
          </a:xfrm>
        </p:spPr>
        <p:txBody>
          <a:bodyPr anchor="ctr">
            <a:normAutofit/>
          </a:bodyPr>
          <a:lstStyle/>
          <a:p>
            <a:r>
              <a:rPr lang="fr-FR" sz="3000"/>
              <a:t>Bases de données NoSQL</a:t>
            </a:r>
          </a:p>
        </p:txBody>
      </p:sp>
      <p:sp>
        <p:nvSpPr>
          <p:cNvPr id="5" name="Espace réservé du contenu 4">
            <a:extLst>
              <a:ext uri="{FF2B5EF4-FFF2-40B4-BE49-F238E27FC236}">
                <a16:creationId xmlns:a16="http://schemas.microsoft.com/office/drawing/2014/main" id="{FF3EEB6C-860C-C845-ED70-2EDB55B32BE4}"/>
              </a:ext>
            </a:extLst>
          </p:cNvPr>
          <p:cNvSpPr>
            <a:spLocks noGrp="1"/>
          </p:cNvSpPr>
          <p:nvPr>
            <p:ph sz="half" idx="4294967295"/>
          </p:nvPr>
        </p:nvSpPr>
        <p:spPr>
          <a:xfrm>
            <a:off x="432000" y="1054500"/>
            <a:ext cx="11328000" cy="4352544"/>
          </a:xfrm>
        </p:spPr>
        <p:txBody>
          <a:bodyPr anchor="t">
            <a:normAutofit/>
          </a:bodyPr>
          <a:lstStyle/>
          <a:p>
            <a:pPr marL="0"/>
            <a:r>
              <a:rPr lang="en-US" kern="1200"/>
              <a:t>Flexibilité et Scalabilité</a:t>
            </a:r>
          </a:p>
          <a:p>
            <a:pPr marL="0" lvl="1"/>
            <a:r>
              <a:rPr lang="en-US" sz="1800" kern="1200"/>
              <a:t>Conçues pour offrir une flexibilité et une scalabilité</a:t>
            </a:r>
          </a:p>
          <a:p>
            <a:pPr marL="0" lvl="1"/>
            <a:r>
              <a:rPr lang="en-US" sz="1800" kern="1200"/>
              <a:t>Gèrent des volumes massifs de données non structurées et semi-structurées</a:t>
            </a:r>
          </a:p>
          <a:p>
            <a:pPr marL="0"/>
            <a:r>
              <a:rPr lang="en-US" kern="1200"/>
              <a:t>MongoDB</a:t>
            </a:r>
          </a:p>
          <a:p>
            <a:pPr marL="0" lvl="1"/>
            <a:r>
              <a:rPr lang="en-US" sz="1800" kern="1200"/>
              <a:t>Base de données orientée document</a:t>
            </a:r>
          </a:p>
          <a:p>
            <a:pPr marL="0" lvl="1"/>
            <a:r>
              <a:rPr lang="en-US" sz="1800" kern="1200"/>
              <a:t>Stocke les données dans des documents JSON-like</a:t>
            </a:r>
          </a:p>
          <a:p>
            <a:pPr marL="0" lvl="1"/>
            <a:r>
              <a:rPr lang="en-US" sz="1800" kern="1200"/>
              <a:t>Utilisée pour les applications web et les systèmes de gestion de catalogues</a:t>
            </a:r>
          </a:p>
          <a:p>
            <a:pPr marL="0"/>
            <a:r>
              <a:rPr lang="en-US" kern="1200"/>
              <a:t>Cassandra</a:t>
            </a:r>
          </a:p>
          <a:p>
            <a:pPr marL="0" lvl="1"/>
            <a:r>
              <a:rPr lang="en-US" sz="1800" kern="1200"/>
              <a:t>Base de données orientée colonne</a:t>
            </a:r>
          </a:p>
          <a:p>
            <a:pPr marL="0" lvl="1"/>
            <a:r>
              <a:rPr lang="en-US" sz="1800" kern="1200"/>
              <a:t>Offre une grande scalabilité et tolérance aux pannes</a:t>
            </a:r>
          </a:p>
          <a:p>
            <a:pPr marL="0" lvl="1"/>
            <a:r>
              <a:rPr lang="en-US" sz="1800" kern="1200"/>
              <a:t>Utilisée pour les applications nécessitant une disponibilité élevée</a:t>
            </a:r>
          </a:p>
          <a:p>
            <a:pPr marL="0"/>
            <a:r>
              <a:rPr lang="en-US" kern="1200"/>
              <a:t>CouchDB</a:t>
            </a:r>
          </a:p>
        </p:txBody>
      </p:sp>
    </p:spTree>
    <p:extLst>
      <p:ext uri="{BB962C8B-B14F-4D97-AF65-F5344CB8AC3E}">
        <p14:creationId xmlns:p14="http://schemas.microsoft.com/office/powerpoint/2010/main" val="52570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69C982-7B9D-2598-C0C2-DBBE223EC413}"/>
              </a:ext>
            </a:extLst>
          </p:cNvPr>
          <p:cNvSpPr>
            <a:spLocks noGrp="1"/>
          </p:cNvSpPr>
          <p:nvPr>
            <p:ph type="title"/>
          </p:nvPr>
        </p:nvSpPr>
        <p:spPr>
          <a:xfrm>
            <a:off x="432000" y="432000"/>
            <a:ext cx="11328000" cy="432000"/>
          </a:xfrm>
        </p:spPr>
        <p:txBody>
          <a:bodyPr anchor="ctr">
            <a:normAutofit/>
          </a:bodyPr>
          <a:lstStyle/>
          <a:p>
            <a:r>
              <a:rPr lang="fr-FR" sz="3000"/>
              <a:t>7 différences entre BDD relationnelles et NoSQL</a:t>
            </a:r>
          </a:p>
        </p:txBody>
      </p:sp>
      <p:sp>
        <p:nvSpPr>
          <p:cNvPr id="24" name="Text Placeholder 2">
            <a:extLst>
              <a:ext uri="{FF2B5EF4-FFF2-40B4-BE49-F238E27FC236}">
                <a16:creationId xmlns:a16="http://schemas.microsoft.com/office/drawing/2014/main" id="{89495335-CD2C-3A42-E3A8-C8608A2E1B8A}"/>
              </a:ext>
            </a:extLst>
          </p:cNvPr>
          <p:cNvSpPr>
            <a:spLocks noGrp="1"/>
          </p:cNvSpPr>
          <p:nvPr>
            <p:ph type="body" sz="quarter" idx="32"/>
          </p:nvPr>
        </p:nvSpPr>
        <p:spPr>
          <a:xfrm>
            <a:off x="431800" y="1008000"/>
            <a:ext cx="11339513" cy="360000"/>
          </a:xfrm>
        </p:spPr>
        <p:txBody>
          <a:bodyPr/>
          <a:lstStyle/>
          <a:p>
            <a:endParaRPr lang="en-US"/>
          </a:p>
        </p:txBody>
      </p:sp>
      <p:sp>
        <p:nvSpPr>
          <p:cNvPr id="4" name="Espace réservé du pied de page 3">
            <a:extLst>
              <a:ext uri="{FF2B5EF4-FFF2-40B4-BE49-F238E27FC236}">
                <a16:creationId xmlns:a16="http://schemas.microsoft.com/office/drawing/2014/main" id="{B049B1EE-B287-6FB0-1200-A20B88CC180F}"/>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5" name="Espace réservé du numéro de diapositive 4">
            <a:extLst>
              <a:ext uri="{FF2B5EF4-FFF2-40B4-BE49-F238E27FC236}">
                <a16:creationId xmlns:a16="http://schemas.microsoft.com/office/drawing/2014/main" id="{4204AD39-6795-0B88-C928-C3087F12585E}"/>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14</a:t>
            </a:fld>
            <a:endParaRPr lang="fr-FR" noProof="0"/>
          </a:p>
        </p:txBody>
      </p:sp>
      <p:graphicFrame>
        <p:nvGraphicFramePr>
          <p:cNvPr id="7" name="Tableau 6">
            <a:extLst>
              <a:ext uri="{FF2B5EF4-FFF2-40B4-BE49-F238E27FC236}">
                <a16:creationId xmlns:a16="http://schemas.microsoft.com/office/drawing/2014/main" id="{8707AF1F-1869-D8F6-D55B-FFF0CC0ABF0D}"/>
              </a:ext>
            </a:extLst>
          </p:cNvPr>
          <p:cNvGraphicFramePr>
            <a:graphicFrameLocks noGrp="1"/>
          </p:cNvGraphicFramePr>
          <p:nvPr>
            <p:extLst>
              <p:ext uri="{D42A27DB-BD31-4B8C-83A1-F6EECF244321}">
                <p14:modId xmlns:p14="http://schemas.microsoft.com/office/powerpoint/2010/main" val="715687027"/>
              </p:ext>
            </p:extLst>
          </p:nvPr>
        </p:nvGraphicFramePr>
        <p:xfrm>
          <a:off x="432000" y="1777204"/>
          <a:ext cx="11328002" cy="4148848"/>
        </p:xfrm>
        <a:graphic>
          <a:graphicData uri="http://schemas.openxmlformats.org/drawingml/2006/table">
            <a:tbl>
              <a:tblPr>
                <a:solidFill>
                  <a:schemeClr val="bg1"/>
                </a:solidFill>
              </a:tblPr>
              <a:tblGrid>
                <a:gridCol w="3101120">
                  <a:extLst>
                    <a:ext uri="{9D8B030D-6E8A-4147-A177-3AD203B41FA5}">
                      <a16:colId xmlns:a16="http://schemas.microsoft.com/office/drawing/2014/main" val="2602980394"/>
                    </a:ext>
                  </a:extLst>
                </a:gridCol>
                <a:gridCol w="3930446">
                  <a:extLst>
                    <a:ext uri="{9D8B030D-6E8A-4147-A177-3AD203B41FA5}">
                      <a16:colId xmlns:a16="http://schemas.microsoft.com/office/drawing/2014/main" val="2197834069"/>
                    </a:ext>
                  </a:extLst>
                </a:gridCol>
                <a:gridCol w="4296436">
                  <a:extLst>
                    <a:ext uri="{9D8B030D-6E8A-4147-A177-3AD203B41FA5}">
                      <a16:colId xmlns:a16="http://schemas.microsoft.com/office/drawing/2014/main" val="744226836"/>
                    </a:ext>
                  </a:extLst>
                </a:gridCol>
              </a:tblGrid>
              <a:tr h="488973">
                <a:tc>
                  <a:txBody>
                    <a:bodyPr/>
                    <a:lstStyle/>
                    <a:p>
                      <a:r>
                        <a:rPr lang="fr-FR" sz="1600" cap="none" spc="0">
                          <a:solidFill>
                            <a:schemeClr val="tx1"/>
                          </a:solidFill>
                        </a:rPr>
                        <a:t>Caractéristique</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fr-FR" sz="1600" b="1" cap="none" spc="0" dirty="0">
                          <a:solidFill>
                            <a:schemeClr val="tx1"/>
                          </a:solidFill>
                        </a:rPr>
                        <a:t>Relationnel</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fr-FR" sz="1600" b="1" cap="none" spc="0" dirty="0">
                          <a:solidFill>
                            <a:schemeClr val="tx1"/>
                          </a:solidFill>
                        </a:rPr>
                        <a:t>NoSQL</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46947562"/>
                  </a:ext>
                </a:extLst>
              </a:tr>
              <a:tr h="488973">
                <a:tc>
                  <a:txBody>
                    <a:bodyPr/>
                    <a:lstStyle/>
                    <a:p>
                      <a:r>
                        <a:rPr lang="fr-FR" sz="1600" cap="none" spc="0">
                          <a:solidFill>
                            <a:schemeClr val="tx1"/>
                          </a:solidFill>
                        </a:rPr>
                        <a:t>Modèle de données</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Tables, lignes, colonnes</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Clé-valeur, document, colonne, graphique</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16874075"/>
                  </a:ext>
                </a:extLst>
              </a:tr>
              <a:tr h="488973">
                <a:tc>
                  <a:txBody>
                    <a:bodyPr/>
                    <a:lstStyle/>
                    <a:p>
                      <a:r>
                        <a:rPr lang="fr-FR" sz="1600" cap="none" spc="0">
                          <a:solidFill>
                            <a:schemeClr val="tx1"/>
                          </a:solidFill>
                        </a:rPr>
                        <a:t>Scalabilité</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Verticale et horizontale (complexe)</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Horizontale</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649042653"/>
                  </a:ext>
                </a:extLst>
              </a:tr>
              <a:tr h="726037">
                <a:tc>
                  <a:txBody>
                    <a:bodyPr/>
                    <a:lstStyle/>
                    <a:p>
                      <a:r>
                        <a:rPr lang="fr-FR" sz="1600" cap="none" spc="0">
                          <a:solidFill>
                            <a:schemeClr val="tx1"/>
                          </a:solidFill>
                        </a:rPr>
                        <a:t>Performance</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Bonnes performances pour les requêtes complexes</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Excellentes performances pour les opérations de lecture/écriture</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31762964"/>
                  </a:ext>
                </a:extLst>
              </a:tr>
              <a:tr h="488973">
                <a:tc>
                  <a:txBody>
                    <a:bodyPr/>
                    <a:lstStyle/>
                    <a:p>
                      <a:r>
                        <a:rPr lang="fr-FR" sz="1600" cap="none" spc="0">
                          <a:solidFill>
                            <a:schemeClr val="tx1"/>
                          </a:solidFill>
                        </a:rPr>
                        <a:t>Cohérence</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Forte cohérence</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Cohérence éventuelle</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940660297"/>
                  </a:ext>
                </a:extLst>
              </a:tr>
              <a:tr h="488973">
                <a:tc>
                  <a:txBody>
                    <a:bodyPr/>
                    <a:lstStyle/>
                    <a:p>
                      <a:r>
                        <a:rPr lang="fr-FR" sz="1600" cap="none" spc="0">
                          <a:solidFill>
                            <a:schemeClr val="tx1"/>
                          </a:solidFill>
                        </a:rPr>
                        <a:t>Type de données</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Structurées</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Structurées, semi-structurées, non structurées</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429599725"/>
                  </a:ext>
                </a:extLst>
              </a:tr>
              <a:tr h="488973">
                <a:tc>
                  <a:txBody>
                    <a:bodyPr/>
                    <a:lstStyle/>
                    <a:p>
                      <a:r>
                        <a:rPr lang="fr-FR" sz="1600" cap="none" spc="0">
                          <a:solidFill>
                            <a:schemeClr val="tx1"/>
                          </a:solidFill>
                        </a:rPr>
                        <a:t>Langage de requête</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SQL</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fr-FR" sz="1600" cap="none" spc="0">
                          <a:solidFill>
                            <a:schemeClr val="tx1"/>
                          </a:solidFill>
                        </a:rPr>
                        <a:t>Spécifique à chaque base</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789904523"/>
                  </a:ext>
                </a:extLst>
              </a:tr>
              <a:tr h="488973">
                <a:tc>
                  <a:txBody>
                    <a:bodyPr/>
                    <a:lstStyle/>
                    <a:p>
                      <a:r>
                        <a:rPr lang="fr-FR" sz="1600" cap="none" spc="0">
                          <a:solidFill>
                            <a:schemeClr val="tx1"/>
                          </a:solidFill>
                        </a:rPr>
                        <a:t>Cas d'utilisation</a:t>
                      </a:r>
                    </a:p>
                  </a:txBody>
                  <a:tcPr marL="130120" marR="100092" marT="100092" marB="100092"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fr-FR" sz="1600" cap="none" spc="0">
                          <a:solidFill>
                            <a:schemeClr val="tx1"/>
                          </a:solidFill>
                        </a:rPr>
                        <a:t>Applications traditionnelles</a:t>
                      </a:r>
                    </a:p>
                  </a:txBody>
                  <a:tcPr marL="130120" marR="100092" marT="100092" marB="10009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fr-FR" sz="1600" cap="none" spc="0" dirty="0">
                          <a:solidFill>
                            <a:schemeClr val="tx1"/>
                          </a:solidFill>
                        </a:rPr>
                        <a:t>Big Data, IoT, etc.</a:t>
                      </a:r>
                    </a:p>
                  </a:txBody>
                  <a:tcPr marL="130120" marR="100092" marT="100092" marB="100092"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4174235325"/>
                  </a:ext>
                </a:extLst>
              </a:tr>
            </a:tbl>
          </a:graphicData>
        </a:graphic>
      </p:graphicFrame>
    </p:spTree>
    <p:extLst>
      <p:ext uri="{BB962C8B-B14F-4D97-AF65-F5344CB8AC3E}">
        <p14:creationId xmlns:p14="http://schemas.microsoft.com/office/powerpoint/2010/main" val="325767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D274E956-A3FA-10D1-6342-D4B65DE5CBDB}"/>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78582D59-0E2E-0744-4345-C8FE05EAC93B}"/>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15</a:t>
            </a:fld>
            <a:endParaRPr lang="fr-FR" noProof="0"/>
          </a:p>
        </p:txBody>
      </p:sp>
      <p:sp>
        <p:nvSpPr>
          <p:cNvPr id="3" name="Titre 2">
            <a:extLst>
              <a:ext uri="{FF2B5EF4-FFF2-40B4-BE49-F238E27FC236}">
                <a16:creationId xmlns:a16="http://schemas.microsoft.com/office/drawing/2014/main" id="{4BB207FA-AC33-1A1B-B837-30D4F1D345D7}"/>
              </a:ext>
            </a:extLst>
          </p:cNvPr>
          <p:cNvSpPr>
            <a:spLocks noGrp="1"/>
          </p:cNvSpPr>
          <p:nvPr>
            <p:ph type="title"/>
          </p:nvPr>
        </p:nvSpPr>
        <p:spPr>
          <a:xfrm>
            <a:off x="432000" y="432000"/>
            <a:ext cx="11328000" cy="432000"/>
          </a:xfrm>
        </p:spPr>
        <p:txBody>
          <a:bodyPr anchor="ctr">
            <a:normAutofit/>
          </a:bodyPr>
          <a:lstStyle/>
          <a:p>
            <a:r>
              <a:rPr lang="fr-FR" sz="3000"/>
              <a:t>Bases de données NewSQL</a:t>
            </a:r>
          </a:p>
        </p:txBody>
      </p:sp>
      <p:sp>
        <p:nvSpPr>
          <p:cNvPr id="5" name="Espace réservé du contenu 4">
            <a:extLst>
              <a:ext uri="{FF2B5EF4-FFF2-40B4-BE49-F238E27FC236}">
                <a16:creationId xmlns:a16="http://schemas.microsoft.com/office/drawing/2014/main" id="{C368ADEF-F784-6038-D6A7-086B55532DD5}"/>
              </a:ext>
            </a:extLst>
          </p:cNvPr>
          <p:cNvSpPr>
            <a:spLocks noGrp="1"/>
          </p:cNvSpPr>
          <p:nvPr>
            <p:ph sz="half" idx="4294967295"/>
          </p:nvPr>
        </p:nvSpPr>
        <p:spPr>
          <a:xfrm>
            <a:off x="432000" y="1054500"/>
            <a:ext cx="11328000" cy="4352544"/>
          </a:xfrm>
        </p:spPr>
        <p:txBody>
          <a:bodyPr anchor="t">
            <a:normAutofit/>
          </a:bodyPr>
          <a:lstStyle/>
          <a:p>
            <a:pPr marL="0"/>
            <a:r>
              <a:rPr lang="en-US" kern="1200"/>
              <a:t>Combinaison des avantages des bases de données relationnelles et NoSQL</a:t>
            </a:r>
          </a:p>
          <a:p>
            <a:pPr marL="0" lvl="1"/>
            <a:r>
              <a:rPr lang="en-US" sz="1800" kern="1200"/>
              <a:t>Scalabilité horizontale</a:t>
            </a:r>
          </a:p>
          <a:p>
            <a:pPr marL="0" lvl="1"/>
            <a:r>
              <a:rPr lang="en-US" sz="1800" kern="1200"/>
              <a:t>Consistance transactionnelle</a:t>
            </a:r>
          </a:p>
          <a:p>
            <a:pPr marL="0" lvl="1"/>
            <a:r>
              <a:rPr lang="en-US" sz="1800" kern="1200"/>
              <a:t>Support des requêtes SQL</a:t>
            </a:r>
          </a:p>
          <a:p>
            <a:pPr marL="0"/>
            <a:r>
              <a:rPr lang="en-US" kern="1200"/>
              <a:t>Exemples populaires de bases de données NewSQL</a:t>
            </a:r>
          </a:p>
          <a:p>
            <a:pPr marL="0" lvl="1"/>
            <a:r>
              <a:rPr lang="en-US" sz="1800" kern="1200"/>
              <a:t>Google Spanner</a:t>
            </a:r>
          </a:p>
          <a:p>
            <a:pPr marL="0" lvl="2"/>
            <a:r>
              <a:rPr lang="en-US" sz="1800" kern="1200"/>
              <a:t>Base de données distribuée</a:t>
            </a:r>
          </a:p>
          <a:p>
            <a:pPr marL="0" lvl="1"/>
            <a:r>
              <a:rPr lang="en-US" sz="1800" kern="1200"/>
              <a:t>CockroachDB</a:t>
            </a:r>
          </a:p>
          <a:p>
            <a:pPr marL="0"/>
            <a:r>
              <a:rPr lang="en-US" kern="1200"/>
              <a:t>Idéales pour les applications modernes</a:t>
            </a:r>
          </a:p>
          <a:p>
            <a:pPr marL="0" lvl="1"/>
            <a:r>
              <a:rPr lang="en-US" sz="1800" kern="1200"/>
              <a:t>Gestion de volumes massifs de données</a:t>
            </a:r>
          </a:p>
          <a:p>
            <a:pPr marL="0" lvl="1"/>
            <a:r>
              <a:rPr lang="en-US" sz="1800" kern="1200"/>
              <a:t>Maintien des propriétés transactionnelles traditionnelles</a:t>
            </a:r>
          </a:p>
          <a:p>
            <a:pPr marL="0" lvl="1"/>
            <a:r>
              <a:rPr lang="en-US" sz="1800" kern="1200"/>
              <a:t>Scalabilité et consistance élevée</a:t>
            </a:r>
          </a:p>
        </p:txBody>
      </p:sp>
    </p:spTree>
    <p:extLst>
      <p:ext uri="{BB962C8B-B14F-4D97-AF65-F5344CB8AC3E}">
        <p14:creationId xmlns:p14="http://schemas.microsoft.com/office/powerpoint/2010/main" val="765568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17C234F-32DA-C2BC-ABE4-F854A396084E}"/>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221B8D21-386E-3E86-3570-33BC328A1BBF}"/>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16</a:t>
            </a:fld>
            <a:endParaRPr lang="fr-FR" noProof="0"/>
          </a:p>
        </p:txBody>
      </p:sp>
      <p:sp>
        <p:nvSpPr>
          <p:cNvPr id="3" name="Titre 2">
            <a:extLst>
              <a:ext uri="{FF2B5EF4-FFF2-40B4-BE49-F238E27FC236}">
                <a16:creationId xmlns:a16="http://schemas.microsoft.com/office/drawing/2014/main" id="{6E551B56-A521-EF96-A942-D7275ED35179}"/>
              </a:ext>
            </a:extLst>
          </p:cNvPr>
          <p:cNvSpPr>
            <a:spLocks noGrp="1"/>
          </p:cNvSpPr>
          <p:nvPr>
            <p:ph type="title"/>
          </p:nvPr>
        </p:nvSpPr>
        <p:spPr>
          <a:xfrm>
            <a:off x="432000" y="432000"/>
            <a:ext cx="11328000" cy="432000"/>
          </a:xfrm>
        </p:spPr>
        <p:txBody>
          <a:bodyPr anchor="ctr">
            <a:normAutofit/>
          </a:bodyPr>
          <a:lstStyle/>
          <a:p>
            <a:r>
              <a:rPr lang="fr-FR" sz="3000"/>
              <a:t>Bases de données en mémoire</a:t>
            </a:r>
          </a:p>
        </p:txBody>
      </p:sp>
      <p:sp>
        <p:nvSpPr>
          <p:cNvPr id="5" name="Espace réservé du contenu 4">
            <a:extLst>
              <a:ext uri="{FF2B5EF4-FFF2-40B4-BE49-F238E27FC236}">
                <a16:creationId xmlns:a16="http://schemas.microsoft.com/office/drawing/2014/main" id="{18CF7C9E-7D18-FEE8-960C-FE5FC41A9F82}"/>
              </a:ext>
            </a:extLst>
          </p:cNvPr>
          <p:cNvSpPr>
            <a:spLocks noGrp="1"/>
          </p:cNvSpPr>
          <p:nvPr>
            <p:ph sz="half" idx="4294967295"/>
          </p:nvPr>
        </p:nvSpPr>
        <p:spPr>
          <a:xfrm>
            <a:off x="432000" y="1054500"/>
            <a:ext cx="11328000" cy="4352544"/>
          </a:xfrm>
        </p:spPr>
        <p:txBody>
          <a:bodyPr anchor="t">
            <a:normAutofit/>
          </a:bodyPr>
          <a:lstStyle/>
          <a:p>
            <a:pPr marL="0"/>
            <a:r>
              <a:rPr lang="en-US" kern="1200"/>
              <a:t>Avantages des bases de données en mémoire</a:t>
            </a:r>
          </a:p>
          <a:p>
            <a:pPr marL="0" lvl="1"/>
            <a:r>
              <a:rPr lang="en-US" sz="1800" kern="1200"/>
              <a:t>Rapidité : Réduction des latences de lecture et d'écriture</a:t>
            </a:r>
          </a:p>
          <a:p>
            <a:pPr marL="0" lvl="1"/>
            <a:r>
              <a:rPr lang="en-US" sz="1800" kern="1200"/>
              <a:t>Scalabilité : Extension facile en ajoutant plus de mémoire</a:t>
            </a:r>
          </a:p>
          <a:p>
            <a:pPr marL="0" lvl="1"/>
            <a:r>
              <a:rPr lang="en-US" sz="1800" kern="1200"/>
              <a:t>Simplicité : Évite les goulots d'étranglement liés aux E/S de disque</a:t>
            </a:r>
          </a:p>
          <a:p>
            <a:pPr marL="0"/>
            <a:r>
              <a:rPr lang="en-US" kern="1200"/>
              <a:t>Utilisations courantes</a:t>
            </a:r>
          </a:p>
          <a:p>
            <a:pPr marL="0" lvl="1"/>
            <a:r>
              <a:rPr lang="en-US" sz="1800" kern="1200"/>
              <a:t>Caches : Stockage temporaire des données fréquemment accédées</a:t>
            </a:r>
          </a:p>
          <a:p>
            <a:pPr marL="0" lvl="1"/>
            <a:r>
              <a:rPr lang="en-US" sz="1800" kern="1200"/>
              <a:t>Sessions utilisateur : Gestion efficace en temps réel</a:t>
            </a:r>
          </a:p>
          <a:p>
            <a:pPr marL="0" lvl="1"/>
            <a:r>
              <a:rPr lang="en-US" sz="1800" kern="1200"/>
              <a:t>File d'attente de messages : Gestion rapide et fiable des messages</a:t>
            </a:r>
          </a:p>
          <a:p>
            <a:pPr marL="0"/>
            <a:r>
              <a:rPr lang="en-US" kern="1200"/>
              <a:t>Exemples de bases de données en mémoire</a:t>
            </a:r>
          </a:p>
          <a:p>
            <a:pPr marL="0" lvl="1"/>
            <a:r>
              <a:rPr lang="en-US" sz="1800" kern="1200"/>
              <a:t>Redis : Utilisé pour les caches, sessions utilisateur et file d'attente de messages</a:t>
            </a:r>
          </a:p>
          <a:p>
            <a:pPr marL="0" lvl="1"/>
            <a:r>
              <a:rPr lang="en-US" sz="1800" kern="1200"/>
              <a:t>VoltDB : Idéal pour les applications financières et systèmes de télécommunications</a:t>
            </a:r>
          </a:p>
        </p:txBody>
      </p:sp>
    </p:spTree>
    <p:extLst>
      <p:ext uri="{BB962C8B-B14F-4D97-AF65-F5344CB8AC3E}">
        <p14:creationId xmlns:p14="http://schemas.microsoft.com/office/powerpoint/2010/main" val="2812258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0DF0F330-748D-9B96-3E6C-4A5478F88C88}"/>
              </a:ext>
            </a:extLst>
          </p:cNvPr>
          <p:cNvSpPr>
            <a:spLocks noGrp="1"/>
          </p:cNvSpPr>
          <p:nvPr>
            <p:ph type="pic" sz="quarter" idx="14"/>
          </p:nvPr>
        </p:nvSpPr>
        <p:spPr>
          <a:xfrm>
            <a:off x="0" y="-1"/>
            <a:ext cx="6096000" cy="6371351"/>
          </a:xfrm>
        </p:spPr>
        <p:txBody>
          <a:bodyPr/>
          <a:lstStyle/>
          <a:p>
            <a:endParaRPr lang="fr-FR"/>
          </a:p>
        </p:txBody>
      </p:sp>
      <p:sp>
        <p:nvSpPr>
          <p:cNvPr id="3" name="Titre 2">
            <a:extLst>
              <a:ext uri="{FF2B5EF4-FFF2-40B4-BE49-F238E27FC236}">
                <a16:creationId xmlns:a16="http://schemas.microsoft.com/office/drawing/2014/main" id="{E79CDB33-FBE8-07BC-DF82-71FB74F5745D}"/>
              </a:ext>
            </a:extLst>
          </p:cNvPr>
          <p:cNvSpPr>
            <a:spLocks noGrp="1"/>
          </p:cNvSpPr>
          <p:nvPr>
            <p:ph type="title"/>
          </p:nvPr>
        </p:nvSpPr>
        <p:spPr>
          <a:xfrm>
            <a:off x="5118100" y="1869795"/>
            <a:ext cx="6641900" cy="1124345"/>
          </a:xfrm>
        </p:spPr>
        <p:txBody>
          <a:bodyPr anchor="ctr">
            <a:normAutofit/>
          </a:bodyPr>
          <a:lstStyle/>
          <a:p>
            <a:r>
              <a:rPr lang="fr-FR"/>
              <a:t>Apache Hadoop</a:t>
            </a:r>
          </a:p>
        </p:txBody>
      </p:sp>
      <p:sp>
        <p:nvSpPr>
          <p:cNvPr id="14" name="Text Placeholder 3">
            <a:extLst>
              <a:ext uri="{FF2B5EF4-FFF2-40B4-BE49-F238E27FC236}">
                <a16:creationId xmlns:a16="http://schemas.microsoft.com/office/drawing/2014/main" id="{3C60FEA7-7148-FC54-4DBF-C094CBC2AEE9}"/>
              </a:ext>
            </a:extLst>
          </p:cNvPr>
          <p:cNvSpPr>
            <a:spLocks noGrp="1"/>
          </p:cNvSpPr>
          <p:nvPr>
            <p:ph type="body" sz="quarter" idx="32"/>
          </p:nvPr>
        </p:nvSpPr>
        <p:spPr>
          <a:xfrm>
            <a:off x="5118334" y="2994141"/>
            <a:ext cx="6641626" cy="590155"/>
          </a:xfrm>
        </p:spPr>
        <p:txBody>
          <a:bodyPr/>
          <a:lstStyle/>
          <a:p>
            <a:endParaRPr lang="en-US"/>
          </a:p>
        </p:txBody>
      </p:sp>
      <p:sp>
        <p:nvSpPr>
          <p:cNvPr id="5" name="Espace réservé du contenu 4">
            <a:extLst>
              <a:ext uri="{FF2B5EF4-FFF2-40B4-BE49-F238E27FC236}">
                <a16:creationId xmlns:a16="http://schemas.microsoft.com/office/drawing/2014/main" id="{7F29D83F-6E3E-6F17-88F4-3CDE16B02690}"/>
              </a:ext>
            </a:extLst>
          </p:cNvPr>
          <p:cNvSpPr>
            <a:spLocks noGrp="1"/>
          </p:cNvSpPr>
          <p:nvPr>
            <p:ph sz="half" idx="1"/>
          </p:nvPr>
        </p:nvSpPr>
        <p:spPr>
          <a:xfrm>
            <a:off x="6288000" y="3763648"/>
            <a:ext cx="5472000" cy="2428351"/>
          </a:xfrm>
        </p:spPr>
        <p:txBody>
          <a:bodyPr>
            <a:normAutofit/>
          </a:bodyPr>
          <a:lstStyle/>
          <a:p>
            <a:r>
              <a:rPr lang="fr-FR" sz="1500"/>
              <a:t>Apache Hadoop</a:t>
            </a:r>
          </a:p>
          <a:p>
            <a:pPr lvl="1"/>
            <a:r>
              <a:rPr lang="fr-FR" sz="1500"/>
              <a:t>Cadre logiciel open source</a:t>
            </a:r>
          </a:p>
          <a:p>
            <a:pPr lvl="1"/>
            <a:r>
              <a:rPr lang="fr-FR" sz="1500"/>
              <a:t>Permet le traitement distribué de grandes quantités de données</a:t>
            </a:r>
          </a:p>
          <a:p>
            <a:pPr lvl="1"/>
            <a:r>
              <a:rPr lang="fr-FR" sz="1500"/>
              <a:t>Utilise des clusters de serveurs commodément configurés</a:t>
            </a:r>
          </a:p>
          <a:p>
            <a:pPr lvl="1"/>
            <a:r>
              <a:rPr lang="fr-FR" sz="1500"/>
              <a:t>Évolue du traitement unique vers des milliers de machines</a:t>
            </a:r>
          </a:p>
          <a:p>
            <a:pPr lvl="1"/>
            <a:r>
              <a:rPr lang="fr-FR" sz="1500"/>
              <a:t>Chaque machine offre stockage et puissance de calcul locaux</a:t>
            </a:r>
          </a:p>
          <a:p>
            <a:pPr lvl="1"/>
            <a:r>
              <a:rPr lang="fr-FR" sz="1500"/>
              <a:t>Utilisé pour l'analyse de données massives</a:t>
            </a:r>
          </a:p>
          <a:p>
            <a:pPr lvl="1"/>
            <a:r>
              <a:rPr lang="fr-FR" sz="1500"/>
              <a:t>Utilisé pour les modèles prédictifs</a:t>
            </a:r>
          </a:p>
        </p:txBody>
      </p:sp>
      <p:sp>
        <p:nvSpPr>
          <p:cNvPr id="6" name="Espace réservé du pied de page 5">
            <a:extLst>
              <a:ext uri="{FF2B5EF4-FFF2-40B4-BE49-F238E27FC236}">
                <a16:creationId xmlns:a16="http://schemas.microsoft.com/office/drawing/2014/main" id="{D4ED07A6-B3F0-BA31-CCB2-F2E5F2E22B89}"/>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26DEABC2-E411-032E-E5DB-4BC9D5EE679B}"/>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17</a:t>
            </a:fld>
            <a:endParaRPr lang="fr-FR" noProof="0"/>
          </a:p>
        </p:txBody>
      </p:sp>
    </p:spTree>
    <p:extLst>
      <p:ext uri="{BB962C8B-B14F-4D97-AF65-F5344CB8AC3E}">
        <p14:creationId xmlns:p14="http://schemas.microsoft.com/office/powerpoint/2010/main" val="1896397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842E01D9-AD44-2EB4-BC9C-028868940482}"/>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1C925308-27F1-7809-F0FF-652F684DF793}"/>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18</a:t>
            </a:fld>
            <a:endParaRPr lang="fr-FR" noProof="0"/>
          </a:p>
        </p:txBody>
      </p:sp>
      <p:sp>
        <p:nvSpPr>
          <p:cNvPr id="3" name="Titre 2">
            <a:extLst>
              <a:ext uri="{FF2B5EF4-FFF2-40B4-BE49-F238E27FC236}">
                <a16:creationId xmlns:a16="http://schemas.microsoft.com/office/drawing/2014/main" id="{E7764357-A918-6E79-8E0C-1D046EDEED83}"/>
              </a:ext>
            </a:extLst>
          </p:cNvPr>
          <p:cNvSpPr>
            <a:spLocks noGrp="1"/>
          </p:cNvSpPr>
          <p:nvPr>
            <p:ph type="title"/>
          </p:nvPr>
        </p:nvSpPr>
        <p:spPr>
          <a:xfrm>
            <a:off x="432000" y="432000"/>
            <a:ext cx="11328000" cy="432000"/>
          </a:xfrm>
        </p:spPr>
        <p:txBody>
          <a:bodyPr anchor="ctr">
            <a:normAutofit/>
          </a:bodyPr>
          <a:lstStyle/>
          <a:p>
            <a:r>
              <a:rPr lang="fr-FR" sz="3000"/>
              <a:t>Apache Spark</a:t>
            </a:r>
          </a:p>
        </p:txBody>
      </p:sp>
      <p:sp>
        <p:nvSpPr>
          <p:cNvPr id="5" name="Espace réservé du contenu 4">
            <a:extLst>
              <a:ext uri="{FF2B5EF4-FFF2-40B4-BE49-F238E27FC236}">
                <a16:creationId xmlns:a16="http://schemas.microsoft.com/office/drawing/2014/main" id="{7A79D1E3-DBB2-FB16-CD7C-A6CE723F82D0}"/>
              </a:ext>
            </a:extLst>
          </p:cNvPr>
          <p:cNvSpPr>
            <a:spLocks noGrp="1"/>
          </p:cNvSpPr>
          <p:nvPr>
            <p:ph sz="half" idx="4294967295"/>
          </p:nvPr>
        </p:nvSpPr>
        <p:spPr>
          <a:xfrm>
            <a:off x="432000" y="1054500"/>
            <a:ext cx="11328000" cy="4352544"/>
          </a:xfrm>
        </p:spPr>
        <p:txBody>
          <a:bodyPr anchor="t">
            <a:normAutofit/>
          </a:bodyPr>
          <a:lstStyle/>
          <a:p>
            <a:pPr marL="0"/>
            <a:r>
              <a:rPr lang="en-US" kern="1200"/>
              <a:t>Apache Spark : Moteur de traitement de données en mémoire</a:t>
            </a:r>
          </a:p>
          <a:p>
            <a:pPr marL="0" lvl="1"/>
            <a:r>
              <a:rPr lang="en-US" sz="1800" kern="1200"/>
              <a:t>Permet des analyses de données massives rapides et efficaces</a:t>
            </a:r>
          </a:p>
          <a:p>
            <a:pPr marL="0" lvl="1"/>
            <a:r>
              <a:rPr lang="en-US" sz="1800" kern="1200"/>
              <a:t>Conçu pour des tâches complexes : calculs en mémoire, apprentissage automatique, traitement de graphes, traitement en temps réel</a:t>
            </a:r>
          </a:p>
          <a:p>
            <a:pPr marL="0"/>
            <a:r>
              <a:rPr lang="en-US" kern="1200"/>
              <a:t>Modèle de programmation basé sur des RDD</a:t>
            </a:r>
          </a:p>
          <a:p>
            <a:pPr marL="0" lvl="1"/>
            <a:r>
              <a:rPr lang="en-US" sz="1800" kern="1200"/>
              <a:t>Traitement des données de manière distribuée et tolérante aux pannes</a:t>
            </a:r>
          </a:p>
          <a:p>
            <a:pPr marL="0"/>
            <a:r>
              <a:rPr lang="en-US" kern="1200"/>
              <a:t>Comparaison avec Apache Hadoop</a:t>
            </a:r>
          </a:p>
          <a:p>
            <a:pPr marL="0" lvl="1"/>
            <a:r>
              <a:rPr lang="en-US" sz="1800" kern="1200"/>
              <a:t>Hadoop utilise le modèle MapReduce et stocke les données sur HDFS</a:t>
            </a:r>
          </a:p>
          <a:p>
            <a:pPr marL="0" lvl="1"/>
            <a:r>
              <a:rPr lang="en-US" sz="1800" kern="1200"/>
              <a:t>Spark stocke les données en mémoire pour un traitement plus rapide</a:t>
            </a:r>
          </a:p>
          <a:p>
            <a:pPr marL="0" lvl="1"/>
            <a:r>
              <a:rPr lang="en-US" sz="1800" kern="1200"/>
              <a:t>Hadoop adapté aux tâches de traitement par lots</a:t>
            </a:r>
          </a:p>
          <a:p>
            <a:pPr marL="0" lvl="1"/>
            <a:r>
              <a:rPr lang="en-US" sz="1800" kern="1200"/>
              <a:t>Spark excelle dans le traitement interactif et en temps réel</a:t>
            </a:r>
          </a:p>
          <a:p>
            <a:pPr marL="0"/>
            <a:r>
              <a:rPr lang="en-US" kern="1200"/>
              <a:t>Bibliothèques intégrées de Spark</a:t>
            </a:r>
          </a:p>
          <a:p>
            <a:pPr marL="0"/>
            <a:r>
              <a:rPr lang="en-US" kern="1200"/>
              <a:t>Résumé</a:t>
            </a:r>
          </a:p>
        </p:txBody>
      </p:sp>
    </p:spTree>
    <p:extLst>
      <p:ext uri="{BB962C8B-B14F-4D97-AF65-F5344CB8AC3E}">
        <p14:creationId xmlns:p14="http://schemas.microsoft.com/office/powerpoint/2010/main" val="329346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C7B2D2CE-A960-205E-237E-11E28EA5FC2F}"/>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C7971395-FAE0-E8EC-7EFB-F6A7FBB9C81F}"/>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19</a:t>
            </a:fld>
            <a:endParaRPr lang="fr-FR" noProof="0"/>
          </a:p>
        </p:txBody>
      </p:sp>
      <p:sp>
        <p:nvSpPr>
          <p:cNvPr id="3" name="Titre 2">
            <a:extLst>
              <a:ext uri="{FF2B5EF4-FFF2-40B4-BE49-F238E27FC236}">
                <a16:creationId xmlns:a16="http://schemas.microsoft.com/office/drawing/2014/main" id="{51DC3370-77AC-6045-C4FA-83DA324105B6}"/>
              </a:ext>
            </a:extLst>
          </p:cNvPr>
          <p:cNvSpPr>
            <a:spLocks noGrp="1"/>
          </p:cNvSpPr>
          <p:nvPr>
            <p:ph type="title"/>
          </p:nvPr>
        </p:nvSpPr>
        <p:spPr>
          <a:xfrm>
            <a:off x="432000" y="432000"/>
            <a:ext cx="11328000" cy="432000"/>
          </a:xfrm>
        </p:spPr>
        <p:txBody>
          <a:bodyPr anchor="ctr">
            <a:normAutofit/>
          </a:bodyPr>
          <a:lstStyle/>
          <a:p>
            <a:r>
              <a:rPr lang="fr-FR" sz="3000"/>
              <a:t>HDFS et MapReduce</a:t>
            </a:r>
          </a:p>
        </p:txBody>
      </p:sp>
      <p:sp>
        <p:nvSpPr>
          <p:cNvPr id="5" name="Espace réservé du contenu 4">
            <a:extLst>
              <a:ext uri="{FF2B5EF4-FFF2-40B4-BE49-F238E27FC236}">
                <a16:creationId xmlns:a16="http://schemas.microsoft.com/office/drawing/2014/main" id="{DF7F46A2-6CCE-3D13-1704-B09CC69B97B4}"/>
              </a:ext>
            </a:extLst>
          </p:cNvPr>
          <p:cNvSpPr>
            <a:spLocks noGrp="1"/>
          </p:cNvSpPr>
          <p:nvPr>
            <p:ph sz="half" idx="4294967295"/>
          </p:nvPr>
        </p:nvSpPr>
        <p:spPr>
          <a:xfrm>
            <a:off x="432000" y="1054500"/>
            <a:ext cx="11328000" cy="4352544"/>
          </a:xfrm>
        </p:spPr>
        <p:txBody>
          <a:bodyPr anchor="t">
            <a:normAutofit/>
          </a:bodyPr>
          <a:lstStyle/>
          <a:p>
            <a:pPr marL="0"/>
            <a:r>
              <a:rPr lang="en-US" kern="1200"/>
              <a:t>HDFS (Hadoop Distributed File System)</a:t>
            </a:r>
          </a:p>
          <a:p>
            <a:pPr marL="0" lvl="1"/>
            <a:r>
              <a:rPr lang="en-US" sz="1800" kern="1200"/>
              <a:t>Système de fichiers distribué pour stocker de grandes quantités de données</a:t>
            </a:r>
          </a:p>
          <a:p>
            <a:pPr marL="0" lvl="1"/>
            <a:r>
              <a:rPr lang="en-US" sz="1800" kern="1200"/>
              <a:t>Divise les fichiers en blocs et les distribue sur plusieurs machines</a:t>
            </a:r>
          </a:p>
          <a:p>
            <a:pPr marL="0" lvl="1"/>
            <a:r>
              <a:rPr lang="en-US" sz="1800" kern="1200"/>
              <a:t>Assure la disponibilité et la tolérance aux pannes grâce à la réplication des données</a:t>
            </a:r>
          </a:p>
          <a:p>
            <a:pPr marL="0" lvl="1"/>
            <a:r>
              <a:rPr lang="en-US" sz="1800" kern="1200"/>
              <a:t>Réplique chaque bloc de données sur plusieurs nœuds du cluster</a:t>
            </a:r>
          </a:p>
          <a:p>
            <a:pPr marL="0"/>
            <a:r>
              <a:rPr lang="en-US" kern="1200"/>
              <a:t>MapReduce</a:t>
            </a:r>
          </a:p>
          <a:p>
            <a:pPr marL="0" lvl="1"/>
            <a:r>
              <a:rPr lang="en-US" sz="1800" kern="1200"/>
              <a:t>Modèle de programmation pour le traitement distribué des données sur HDFS</a:t>
            </a:r>
          </a:p>
          <a:p>
            <a:pPr marL="0" lvl="1"/>
            <a:r>
              <a:rPr lang="en-US" sz="1800" kern="1200"/>
              <a:t>Phase Map : division des données en paires clé-valeur et traitement en parallèle</a:t>
            </a:r>
          </a:p>
          <a:p>
            <a:pPr marL="0" lvl="1"/>
            <a:r>
              <a:rPr lang="en-US" sz="1800" kern="1200"/>
              <a:t>Phase Reduce : combinaison des résultats intermédiaires pour produire le résultat final</a:t>
            </a:r>
          </a:p>
          <a:p>
            <a:pPr marL="0" lvl="1"/>
            <a:r>
              <a:rPr lang="en-US" sz="1800" kern="1200"/>
              <a:t>Permet de traiter efficacement de vastes ensembles de données</a:t>
            </a:r>
          </a:p>
          <a:p>
            <a:pPr marL="0"/>
            <a:r>
              <a:rPr lang="en-US" kern="1200"/>
              <a:t>Hadoop</a:t>
            </a:r>
          </a:p>
          <a:p>
            <a:pPr marL="0" lvl="1"/>
            <a:r>
              <a:rPr lang="en-US" sz="1800" kern="1200"/>
              <a:t>Utilise HDFS pour le stockage distribué</a:t>
            </a:r>
          </a:p>
        </p:txBody>
      </p:sp>
    </p:spTree>
    <p:extLst>
      <p:ext uri="{BB962C8B-B14F-4D97-AF65-F5344CB8AC3E}">
        <p14:creationId xmlns:p14="http://schemas.microsoft.com/office/powerpoint/2010/main" val="3102487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87980775-A1A6-58A8-BB7F-0D03CB9996C7}"/>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8E884004-2FEF-6720-ED2F-AC5F5169EA1B}"/>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20</a:t>
            </a:fld>
            <a:endParaRPr lang="fr-FR" noProof="0"/>
          </a:p>
        </p:txBody>
      </p:sp>
      <p:sp>
        <p:nvSpPr>
          <p:cNvPr id="3" name="Titre 2">
            <a:extLst>
              <a:ext uri="{FF2B5EF4-FFF2-40B4-BE49-F238E27FC236}">
                <a16:creationId xmlns:a16="http://schemas.microsoft.com/office/drawing/2014/main" id="{5A943C2C-1BC3-2DE7-BEA9-BA37F8F1B241}"/>
              </a:ext>
            </a:extLst>
          </p:cNvPr>
          <p:cNvSpPr>
            <a:spLocks noGrp="1"/>
          </p:cNvSpPr>
          <p:nvPr>
            <p:ph type="title"/>
          </p:nvPr>
        </p:nvSpPr>
        <p:spPr>
          <a:xfrm>
            <a:off x="432000" y="432000"/>
            <a:ext cx="11328000" cy="432000"/>
          </a:xfrm>
        </p:spPr>
        <p:txBody>
          <a:bodyPr anchor="ctr">
            <a:normAutofit/>
          </a:bodyPr>
          <a:lstStyle/>
          <a:p>
            <a:r>
              <a:rPr lang="fr-FR" sz="3000"/>
              <a:t>Google BigQuery</a:t>
            </a:r>
          </a:p>
        </p:txBody>
      </p:sp>
      <p:sp>
        <p:nvSpPr>
          <p:cNvPr id="5" name="Espace réservé du contenu 4">
            <a:extLst>
              <a:ext uri="{FF2B5EF4-FFF2-40B4-BE49-F238E27FC236}">
                <a16:creationId xmlns:a16="http://schemas.microsoft.com/office/drawing/2014/main" id="{7486A89B-60CF-4A45-C832-383756593121}"/>
              </a:ext>
            </a:extLst>
          </p:cNvPr>
          <p:cNvSpPr>
            <a:spLocks noGrp="1"/>
          </p:cNvSpPr>
          <p:nvPr>
            <p:ph sz="half" idx="4294967295"/>
          </p:nvPr>
        </p:nvSpPr>
        <p:spPr>
          <a:xfrm>
            <a:off x="432000" y="1054500"/>
            <a:ext cx="11328000" cy="4352544"/>
          </a:xfrm>
        </p:spPr>
        <p:txBody>
          <a:bodyPr anchor="t">
            <a:normAutofit/>
          </a:bodyPr>
          <a:lstStyle/>
          <a:p>
            <a:pPr marL="0"/>
            <a:r>
              <a:rPr lang="en-US" kern="1200"/>
              <a:t>Service de stockage et d'analyse de données</a:t>
            </a:r>
          </a:p>
          <a:p>
            <a:pPr marL="0" lvl="1"/>
            <a:r>
              <a:rPr lang="en-US" sz="1800" kern="1200"/>
              <a:t>Entièrement géré et sans serveur</a:t>
            </a:r>
          </a:p>
          <a:p>
            <a:pPr marL="0" lvl="1"/>
            <a:r>
              <a:rPr lang="en-US" sz="1800" kern="1200"/>
              <a:t>Proposé par Google Cloud</a:t>
            </a:r>
          </a:p>
          <a:p>
            <a:pPr marL="0"/>
            <a:r>
              <a:rPr lang="en-US" kern="1200"/>
              <a:t>Traitement rapide des données</a:t>
            </a:r>
          </a:p>
          <a:p>
            <a:pPr marL="0" lvl="1"/>
            <a:r>
              <a:rPr lang="en-US" sz="1800" kern="1200"/>
              <a:t>Exécution de requêtes SQL sur des pétaoctets de données</a:t>
            </a:r>
          </a:p>
          <a:p>
            <a:pPr marL="0" lvl="1"/>
            <a:r>
              <a:rPr lang="en-US" sz="1800" kern="1200"/>
              <a:t>Performance élevée et évolutivité automatique</a:t>
            </a:r>
          </a:p>
          <a:p>
            <a:pPr marL="0"/>
            <a:r>
              <a:rPr lang="en-US" kern="1200"/>
              <a:t>Architecture de stockage en colonnes</a:t>
            </a:r>
          </a:p>
          <a:p>
            <a:pPr marL="0" lvl="1"/>
            <a:r>
              <a:rPr lang="en-US" sz="1800" kern="1200"/>
              <a:t>Optimisation des requêtes pour des analyses rapides</a:t>
            </a:r>
          </a:p>
          <a:p>
            <a:pPr marL="0" lvl="1"/>
            <a:r>
              <a:rPr lang="en-US" sz="1800" kern="1200"/>
              <a:t>Données compressées et distribuées sur plusieurs serveurs</a:t>
            </a:r>
          </a:p>
          <a:p>
            <a:pPr marL="0"/>
            <a:r>
              <a:rPr lang="en-US" kern="1200"/>
              <a:t>Intégration d'outils de machine learning</a:t>
            </a:r>
          </a:p>
          <a:p>
            <a:pPr marL="0" lvl="1"/>
            <a:r>
              <a:rPr lang="en-US" sz="1800" kern="1200"/>
              <a:t>Facilite la création de modèles prédictifs</a:t>
            </a:r>
          </a:p>
          <a:p>
            <a:pPr marL="0"/>
            <a:r>
              <a:rPr lang="en-US" kern="1200"/>
              <a:t>Solution puissante pour les entreprises</a:t>
            </a:r>
          </a:p>
        </p:txBody>
      </p:sp>
    </p:spTree>
    <p:extLst>
      <p:ext uri="{BB962C8B-B14F-4D97-AF65-F5344CB8AC3E}">
        <p14:creationId xmlns:p14="http://schemas.microsoft.com/office/powerpoint/2010/main" val="945483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065224BC-969A-ECB3-F0B0-E71A27F72DF3}"/>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0D67BAA6-24EE-9345-B07D-9605315B4CFD}"/>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21</a:t>
            </a:fld>
            <a:endParaRPr lang="fr-FR" noProof="0"/>
          </a:p>
        </p:txBody>
      </p:sp>
      <p:sp>
        <p:nvSpPr>
          <p:cNvPr id="3" name="Titre 2">
            <a:extLst>
              <a:ext uri="{FF2B5EF4-FFF2-40B4-BE49-F238E27FC236}">
                <a16:creationId xmlns:a16="http://schemas.microsoft.com/office/drawing/2014/main" id="{6C90C085-63ED-EB64-ACA3-2A8DCA3F7C31}"/>
              </a:ext>
            </a:extLst>
          </p:cNvPr>
          <p:cNvSpPr>
            <a:spLocks noGrp="1"/>
          </p:cNvSpPr>
          <p:nvPr>
            <p:ph type="title"/>
          </p:nvPr>
        </p:nvSpPr>
        <p:spPr>
          <a:xfrm>
            <a:off x="432000" y="432000"/>
            <a:ext cx="11328000" cy="432000"/>
          </a:xfrm>
        </p:spPr>
        <p:txBody>
          <a:bodyPr anchor="ctr">
            <a:normAutofit/>
          </a:bodyPr>
          <a:lstStyle/>
          <a:p>
            <a:r>
              <a:rPr lang="fr-FR" sz="3000"/>
              <a:t>Modèles de données</a:t>
            </a:r>
          </a:p>
        </p:txBody>
      </p:sp>
      <p:sp>
        <p:nvSpPr>
          <p:cNvPr id="5" name="Espace réservé du contenu 4">
            <a:extLst>
              <a:ext uri="{FF2B5EF4-FFF2-40B4-BE49-F238E27FC236}">
                <a16:creationId xmlns:a16="http://schemas.microsoft.com/office/drawing/2014/main" id="{AFDA2961-7E1D-CD25-BFD7-385E82B09657}"/>
              </a:ext>
            </a:extLst>
          </p:cNvPr>
          <p:cNvSpPr>
            <a:spLocks noGrp="1"/>
          </p:cNvSpPr>
          <p:nvPr>
            <p:ph sz="half" idx="4294967295"/>
          </p:nvPr>
        </p:nvSpPr>
        <p:spPr>
          <a:xfrm>
            <a:off x="432000" y="1054500"/>
            <a:ext cx="11328000" cy="4352544"/>
          </a:xfrm>
        </p:spPr>
        <p:txBody>
          <a:bodyPr anchor="t">
            <a:normAutofit/>
          </a:bodyPr>
          <a:lstStyle/>
          <a:p>
            <a:pPr marL="0"/>
            <a:r>
              <a:rPr lang="en-US" kern="1200"/>
              <a:t>Modèles de données</a:t>
            </a:r>
          </a:p>
          <a:p>
            <a:pPr marL="0" lvl="1"/>
            <a:r>
              <a:rPr lang="en-US" sz="1800" kern="1200"/>
              <a:t>Différents modèles de données pour les bases de données Big Data</a:t>
            </a:r>
          </a:p>
          <a:p>
            <a:pPr marL="0" lvl="1"/>
            <a:r>
              <a:rPr lang="en-US" sz="1800" kern="1200"/>
              <a:t>Avantages et inconvénients selon les cas d'utilisation</a:t>
            </a:r>
          </a:p>
          <a:p>
            <a:pPr marL="0"/>
            <a:r>
              <a:rPr lang="en-US" kern="1200"/>
              <a:t>Bases de données à schéma fixe</a:t>
            </a:r>
          </a:p>
          <a:p>
            <a:pPr marL="0" lvl="1"/>
            <a:r>
              <a:rPr lang="en-US" sz="1800" kern="1200"/>
              <a:t>Structure rigide des données</a:t>
            </a:r>
          </a:p>
          <a:p>
            <a:pPr marL="0" lvl="1"/>
            <a:r>
              <a:rPr lang="en-US" sz="1800" kern="1200"/>
              <a:t>Types de données, longueur des champs et relations définis à l'avance</a:t>
            </a:r>
          </a:p>
          <a:p>
            <a:pPr marL="0" lvl="1"/>
            <a:r>
              <a:rPr lang="en-US" sz="1800" kern="1200"/>
              <a:t>Utilisé dans les bases de données relationnelles traditionnelles (MySQL, PostgreSQL)</a:t>
            </a:r>
          </a:p>
          <a:p>
            <a:pPr marL="0" lvl="1"/>
            <a:r>
              <a:rPr lang="en-US" sz="1800" kern="1200"/>
              <a:t>Normalisation des données et intégrité référentielle cruciales</a:t>
            </a:r>
          </a:p>
          <a:p>
            <a:pPr marL="0"/>
            <a:r>
              <a:rPr lang="en-US" kern="1200"/>
              <a:t>Bases de données sans schéma</a:t>
            </a:r>
          </a:p>
          <a:p>
            <a:pPr marL="0" lvl="1"/>
            <a:r>
              <a:rPr lang="en-US" sz="1800" kern="1200"/>
              <a:t>Flexibilité accrue pour stocker des données hétérogènes et en évolution</a:t>
            </a:r>
          </a:p>
          <a:p>
            <a:pPr marL="0" lvl="1"/>
            <a:r>
              <a:rPr lang="en-US" sz="1800" kern="1200"/>
              <a:t>Pas besoin de pré-définir la structure des données</a:t>
            </a:r>
          </a:p>
          <a:p>
            <a:pPr marL="0" lvl="1"/>
            <a:r>
              <a:rPr lang="en-US" sz="1800" kern="1200"/>
              <a:t>Adapté aux applications nécessitant une grande agilité (applications mobiles, réseaux sociaux)</a:t>
            </a:r>
          </a:p>
        </p:txBody>
      </p:sp>
    </p:spTree>
    <p:extLst>
      <p:ext uri="{BB962C8B-B14F-4D97-AF65-F5344CB8AC3E}">
        <p14:creationId xmlns:p14="http://schemas.microsoft.com/office/powerpoint/2010/main" val="599542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A821D508-3F44-44E1-B0BD-D48092764111}"/>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D78D11FB-1D85-399E-E82E-EFDB18D3CF89}"/>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22</a:t>
            </a:fld>
            <a:endParaRPr lang="fr-FR" noProof="0"/>
          </a:p>
        </p:txBody>
      </p:sp>
      <p:sp>
        <p:nvSpPr>
          <p:cNvPr id="3" name="Titre 2">
            <a:extLst>
              <a:ext uri="{FF2B5EF4-FFF2-40B4-BE49-F238E27FC236}">
                <a16:creationId xmlns:a16="http://schemas.microsoft.com/office/drawing/2014/main" id="{E71F5BA0-CAFF-5242-4A40-2C5B37E74277}"/>
              </a:ext>
            </a:extLst>
          </p:cNvPr>
          <p:cNvSpPr>
            <a:spLocks noGrp="1"/>
          </p:cNvSpPr>
          <p:nvPr>
            <p:ph type="title"/>
          </p:nvPr>
        </p:nvSpPr>
        <p:spPr>
          <a:xfrm>
            <a:off x="432000" y="432000"/>
            <a:ext cx="11328000" cy="432000"/>
          </a:xfrm>
        </p:spPr>
        <p:txBody>
          <a:bodyPr anchor="ctr">
            <a:normAutofit/>
          </a:bodyPr>
          <a:lstStyle/>
          <a:p>
            <a:r>
              <a:rPr lang="fr-FR" sz="3000"/>
              <a:t>Partitionnement et sharding</a:t>
            </a:r>
          </a:p>
        </p:txBody>
      </p:sp>
      <p:sp>
        <p:nvSpPr>
          <p:cNvPr id="5" name="Espace réservé du contenu 4">
            <a:extLst>
              <a:ext uri="{FF2B5EF4-FFF2-40B4-BE49-F238E27FC236}">
                <a16:creationId xmlns:a16="http://schemas.microsoft.com/office/drawing/2014/main" id="{7963739E-8E3A-A723-61FA-4EFB3D89950B}"/>
              </a:ext>
            </a:extLst>
          </p:cNvPr>
          <p:cNvSpPr>
            <a:spLocks noGrp="1"/>
          </p:cNvSpPr>
          <p:nvPr>
            <p:ph sz="half" idx="4294967295"/>
          </p:nvPr>
        </p:nvSpPr>
        <p:spPr>
          <a:xfrm>
            <a:off x="432000" y="1054500"/>
            <a:ext cx="11328000" cy="4352544"/>
          </a:xfrm>
        </p:spPr>
        <p:txBody>
          <a:bodyPr anchor="t">
            <a:normAutofit/>
          </a:bodyPr>
          <a:lstStyle/>
          <a:p>
            <a:pPr marL="0"/>
            <a:r>
              <a:rPr lang="en-US" kern="1200"/>
              <a:t>Partitionnement</a:t>
            </a:r>
          </a:p>
          <a:p>
            <a:pPr marL="0" lvl="1"/>
            <a:r>
              <a:rPr lang="en-US" sz="1800" kern="1200"/>
              <a:t>Division d'une grande base de données en segments plus petits</a:t>
            </a:r>
          </a:p>
          <a:p>
            <a:pPr marL="0" lvl="1"/>
            <a:r>
              <a:rPr lang="en-US" sz="1800" kern="1200"/>
              <a:t>Segments appelés partitions</a:t>
            </a:r>
          </a:p>
          <a:p>
            <a:pPr marL="0" lvl="1"/>
            <a:r>
              <a:rPr lang="en-US" sz="1800" kern="1200"/>
              <a:t>Permet un stockage et un traitement indépendants</a:t>
            </a:r>
          </a:p>
          <a:p>
            <a:pPr marL="0"/>
            <a:r>
              <a:rPr lang="en-US" kern="1200"/>
              <a:t>Sharding</a:t>
            </a:r>
          </a:p>
          <a:p>
            <a:pPr marL="0" lvl="1"/>
            <a:r>
              <a:rPr lang="en-US" sz="1800" kern="1200"/>
              <a:t>Forme de partitionnement horizontal</a:t>
            </a:r>
          </a:p>
          <a:p>
            <a:pPr marL="0" lvl="1"/>
            <a:r>
              <a:rPr lang="en-US" sz="1800" kern="1200"/>
              <a:t>Données réparties sur plusieurs serveurs ou clusters</a:t>
            </a:r>
          </a:p>
          <a:p>
            <a:pPr marL="0" lvl="1"/>
            <a:r>
              <a:rPr lang="en-US" sz="1800" kern="1200"/>
              <a:t>Chaque serveur contient un sous-ensemble des données totales</a:t>
            </a:r>
          </a:p>
          <a:p>
            <a:pPr marL="0"/>
            <a:r>
              <a:rPr lang="en-US" kern="1200"/>
              <a:t>Avantages</a:t>
            </a:r>
          </a:p>
          <a:p>
            <a:pPr marL="0" lvl="1"/>
            <a:r>
              <a:rPr lang="en-US" sz="1800" kern="1200"/>
              <a:t>Distribution de la charge de travail</a:t>
            </a:r>
          </a:p>
          <a:p>
            <a:pPr marL="0" lvl="1"/>
            <a:r>
              <a:rPr lang="en-US" sz="1800" kern="1200"/>
              <a:t>Réduction des goulots d'étranglement</a:t>
            </a:r>
          </a:p>
          <a:p>
            <a:pPr marL="0" lvl="1"/>
            <a:r>
              <a:rPr lang="en-US" sz="1800" kern="1200"/>
              <a:t>Amélioration des performances et de la disponibilité</a:t>
            </a:r>
          </a:p>
        </p:txBody>
      </p:sp>
    </p:spTree>
    <p:extLst>
      <p:ext uri="{BB962C8B-B14F-4D97-AF65-F5344CB8AC3E}">
        <p14:creationId xmlns:p14="http://schemas.microsoft.com/office/powerpoint/2010/main" val="3998472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57C07364-E094-605C-E4EA-F03544949596}"/>
              </a:ext>
            </a:extLst>
          </p:cNvPr>
          <p:cNvSpPr>
            <a:spLocks noGrp="1"/>
          </p:cNvSpPr>
          <p:nvPr>
            <p:ph type="pic" sz="quarter" idx="14"/>
          </p:nvPr>
        </p:nvSpPr>
        <p:spPr>
          <a:xfrm>
            <a:off x="0" y="-1"/>
            <a:ext cx="6096000" cy="6371351"/>
          </a:xfrm>
        </p:spPr>
        <p:txBody>
          <a:bodyPr/>
          <a:lstStyle/>
          <a:p>
            <a:endParaRPr lang="fr-FR"/>
          </a:p>
        </p:txBody>
      </p:sp>
      <p:sp>
        <p:nvSpPr>
          <p:cNvPr id="3" name="Titre 2">
            <a:extLst>
              <a:ext uri="{FF2B5EF4-FFF2-40B4-BE49-F238E27FC236}">
                <a16:creationId xmlns:a16="http://schemas.microsoft.com/office/drawing/2014/main" id="{03241616-2FAB-A908-47BA-EAE3694D9859}"/>
              </a:ext>
            </a:extLst>
          </p:cNvPr>
          <p:cNvSpPr>
            <a:spLocks noGrp="1"/>
          </p:cNvSpPr>
          <p:nvPr>
            <p:ph type="title"/>
          </p:nvPr>
        </p:nvSpPr>
        <p:spPr>
          <a:xfrm>
            <a:off x="5118100" y="1869795"/>
            <a:ext cx="6641900" cy="1124345"/>
          </a:xfrm>
        </p:spPr>
        <p:txBody>
          <a:bodyPr anchor="ctr">
            <a:normAutofit/>
          </a:bodyPr>
          <a:lstStyle/>
          <a:p>
            <a:r>
              <a:rPr lang="fr-FR" sz="3700"/>
              <a:t>Réplicabilité et tolérance aux pannes</a:t>
            </a:r>
          </a:p>
        </p:txBody>
      </p:sp>
      <p:sp>
        <p:nvSpPr>
          <p:cNvPr id="14" name="Text Placeholder 3">
            <a:extLst>
              <a:ext uri="{FF2B5EF4-FFF2-40B4-BE49-F238E27FC236}">
                <a16:creationId xmlns:a16="http://schemas.microsoft.com/office/drawing/2014/main" id="{5EE003E1-F7CD-1838-883C-8D553FA5802A}"/>
              </a:ext>
            </a:extLst>
          </p:cNvPr>
          <p:cNvSpPr>
            <a:spLocks noGrp="1"/>
          </p:cNvSpPr>
          <p:nvPr>
            <p:ph type="body" sz="quarter" idx="32"/>
          </p:nvPr>
        </p:nvSpPr>
        <p:spPr>
          <a:xfrm>
            <a:off x="5118334" y="2994141"/>
            <a:ext cx="6641626" cy="590155"/>
          </a:xfrm>
        </p:spPr>
        <p:txBody>
          <a:bodyPr/>
          <a:lstStyle/>
          <a:p>
            <a:endParaRPr lang="en-US"/>
          </a:p>
        </p:txBody>
      </p:sp>
      <p:sp>
        <p:nvSpPr>
          <p:cNvPr id="5" name="Espace réservé du contenu 4">
            <a:extLst>
              <a:ext uri="{FF2B5EF4-FFF2-40B4-BE49-F238E27FC236}">
                <a16:creationId xmlns:a16="http://schemas.microsoft.com/office/drawing/2014/main" id="{9A91B5B4-838A-DD3D-D658-778C0EB7429A}"/>
              </a:ext>
            </a:extLst>
          </p:cNvPr>
          <p:cNvSpPr>
            <a:spLocks noGrp="1"/>
          </p:cNvSpPr>
          <p:nvPr>
            <p:ph sz="half" idx="1"/>
          </p:nvPr>
        </p:nvSpPr>
        <p:spPr>
          <a:xfrm>
            <a:off x="6288000" y="3763648"/>
            <a:ext cx="5472000" cy="2428351"/>
          </a:xfrm>
        </p:spPr>
        <p:txBody>
          <a:bodyPr>
            <a:normAutofit/>
          </a:bodyPr>
          <a:lstStyle/>
          <a:p>
            <a:r>
              <a:rPr lang="fr-FR" sz="1500"/>
              <a:t>Réplicabilité des Données</a:t>
            </a:r>
          </a:p>
          <a:p>
            <a:pPr lvl="1"/>
            <a:r>
              <a:rPr lang="fr-FR" sz="1500"/>
              <a:t>Création de plusieurs copies des données</a:t>
            </a:r>
          </a:p>
          <a:p>
            <a:pPr lvl="1"/>
            <a:r>
              <a:rPr lang="fr-FR" sz="1500"/>
              <a:t>Distribution sur différents nœuds du cluster</a:t>
            </a:r>
          </a:p>
          <a:p>
            <a:pPr lvl="1"/>
            <a:r>
              <a:rPr lang="fr-FR" sz="1500"/>
              <a:t>Assure la continuité du service en cas de défaillance</a:t>
            </a:r>
          </a:p>
          <a:p>
            <a:r>
              <a:rPr lang="fr-FR" sz="1500"/>
              <a:t>Tolérance aux Pannes</a:t>
            </a:r>
          </a:p>
          <a:p>
            <a:pPr lvl="1"/>
            <a:r>
              <a:rPr lang="fr-FR" sz="1500"/>
              <a:t>Maintien du fonctionnement normal malgré les défaillances</a:t>
            </a:r>
          </a:p>
          <a:p>
            <a:pPr lvl="1"/>
            <a:r>
              <a:rPr lang="fr-FR" sz="1500"/>
              <a:t>Technologies comme Elasticsearch et HBase</a:t>
            </a:r>
          </a:p>
          <a:p>
            <a:pPr lvl="1"/>
            <a:r>
              <a:rPr lang="fr-FR" sz="1500"/>
              <a:t>Solutions robustes et fiables pour la gestion des données</a:t>
            </a:r>
          </a:p>
        </p:txBody>
      </p:sp>
      <p:sp>
        <p:nvSpPr>
          <p:cNvPr id="6" name="Espace réservé du pied de page 5">
            <a:extLst>
              <a:ext uri="{FF2B5EF4-FFF2-40B4-BE49-F238E27FC236}">
                <a16:creationId xmlns:a16="http://schemas.microsoft.com/office/drawing/2014/main" id="{68693E7F-B1B3-0A92-941D-6377A5DF12AB}"/>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3471D334-EFF3-5439-BB48-96A0D3AE4E8E}"/>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23</a:t>
            </a:fld>
            <a:endParaRPr lang="fr-FR" noProof="0"/>
          </a:p>
        </p:txBody>
      </p:sp>
    </p:spTree>
    <p:extLst>
      <p:ext uri="{BB962C8B-B14F-4D97-AF65-F5344CB8AC3E}">
        <p14:creationId xmlns:p14="http://schemas.microsoft.com/office/powerpoint/2010/main" val="3746823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9B144D22-D45A-6A27-CEA6-8D0D0C853087}"/>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4CA29CD0-1F05-DD10-4921-F9909824ADE8}"/>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24</a:t>
            </a:fld>
            <a:endParaRPr lang="fr-FR" noProof="0"/>
          </a:p>
        </p:txBody>
      </p:sp>
      <p:sp>
        <p:nvSpPr>
          <p:cNvPr id="3" name="Titre 2">
            <a:extLst>
              <a:ext uri="{FF2B5EF4-FFF2-40B4-BE49-F238E27FC236}">
                <a16:creationId xmlns:a16="http://schemas.microsoft.com/office/drawing/2014/main" id="{52D7E196-A8E2-5DDC-FFF0-EC32F35D7A52}"/>
              </a:ext>
            </a:extLst>
          </p:cNvPr>
          <p:cNvSpPr>
            <a:spLocks noGrp="1"/>
          </p:cNvSpPr>
          <p:nvPr>
            <p:ph type="title"/>
          </p:nvPr>
        </p:nvSpPr>
        <p:spPr>
          <a:xfrm>
            <a:off x="432000" y="432000"/>
            <a:ext cx="11328000" cy="432000"/>
          </a:xfrm>
        </p:spPr>
        <p:txBody>
          <a:bodyPr anchor="ctr">
            <a:normAutofit/>
          </a:bodyPr>
          <a:lstStyle/>
          <a:p>
            <a:r>
              <a:rPr lang="fr-FR" sz="3000"/>
              <a:t>ETL (Extract, Transform, Load)</a:t>
            </a:r>
          </a:p>
        </p:txBody>
      </p:sp>
      <p:sp>
        <p:nvSpPr>
          <p:cNvPr id="5" name="Espace réservé du contenu 4">
            <a:extLst>
              <a:ext uri="{FF2B5EF4-FFF2-40B4-BE49-F238E27FC236}">
                <a16:creationId xmlns:a16="http://schemas.microsoft.com/office/drawing/2014/main" id="{7DFAB1DC-0F3B-4012-94F6-59E82FF722F6}"/>
              </a:ext>
            </a:extLst>
          </p:cNvPr>
          <p:cNvSpPr>
            <a:spLocks noGrp="1"/>
          </p:cNvSpPr>
          <p:nvPr>
            <p:ph sz="half" idx="4294967295"/>
          </p:nvPr>
        </p:nvSpPr>
        <p:spPr>
          <a:xfrm>
            <a:off x="432000" y="1054500"/>
            <a:ext cx="11328000" cy="4352544"/>
          </a:xfrm>
        </p:spPr>
        <p:txBody>
          <a:bodyPr anchor="t">
            <a:normAutofit/>
          </a:bodyPr>
          <a:lstStyle/>
          <a:p>
            <a:pPr marL="0"/>
            <a:r>
              <a:rPr lang="en-US" kern="1200"/>
              <a:t>Processus ETL (Extract, Transform, Load)</a:t>
            </a:r>
          </a:p>
          <a:p>
            <a:pPr marL="0" lvl="1"/>
            <a:r>
              <a:rPr lang="en-US" sz="1800" kern="1200"/>
              <a:t>Extraction des données brutes de diverses sources</a:t>
            </a:r>
          </a:p>
          <a:p>
            <a:pPr marL="0" lvl="1"/>
            <a:r>
              <a:rPr lang="en-US" sz="1800" kern="1200"/>
              <a:t>Transformation des données en informations exploitables</a:t>
            </a:r>
          </a:p>
          <a:p>
            <a:pPr marL="0" lvl="1"/>
            <a:r>
              <a:rPr lang="en-US" sz="1800" kern="1200"/>
              <a:t>Chargement des données transformées dans les systèmes de stockage appropriés</a:t>
            </a:r>
          </a:p>
          <a:p>
            <a:pPr marL="0"/>
            <a:r>
              <a:rPr lang="en-US" kern="1200"/>
              <a:t>Importance des processus ETL</a:t>
            </a:r>
          </a:p>
          <a:p>
            <a:pPr marL="0" lvl="1"/>
            <a:r>
              <a:rPr lang="en-US" sz="1800" kern="1200"/>
              <a:t>Assurent que les données utilisées dans les analyses sont propres et cohérentes</a:t>
            </a:r>
          </a:p>
          <a:p>
            <a:pPr marL="0" lvl="1"/>
            <a:r>
              <a:rPr lang="en-US" sz="1800" kern="1200"/>
              <a:t>Préparent les données pour une exploitation efficace</a:t>
            </a:r>
          </a:p>
          <a:p>
            <a:pPr marL="0"/>
            <a:r>
              <a:rPr lang="en-US" kern="1200"/>
              <a:t>Méthode ELT (Extract, Load, Transform)</a:t>
            </a:r>
          </a:p>
          <a:p>
            <a:pPr marL="0" lvl="1"/>
            <a:r>
              <a:rPr lang="en-US" sz="1800" kern="1200"/>
              <a:t>Chargement des données brutes directement dans le système de stockage</a:t>
            </a:r>
          </a:p>
          <a:p>
            <a:pPr marL="0" lvl="1"/>
            <a:r>
              <a:rPr lang="en-US" sz="1800" kern="1200"/>
              <a:t>Transformation des données après le chargement</a:t>
            </a:r>
          </a:p>
          <a:p>
            <a:pPr marL="0" lvl="1"/>
            <a:r>
              <a:rPr lang="en-US" sz="1800" kern="1200"/>
              <a:t>Utilisation des capacités de traitement massif des systèmes Big Data modernes</a:t>
            </a:r>
          </a:p>
        </p:txBody>
      </p:sp>
    </p:spTree>
    <p:extLst>
      <p:ext uri="{BB962C8B-B14F-4D97-AF65-F5344CB8AC3E}">
        <p14:creationId xmlns:p14="http://schemas.microsoft.com/office/powerpoint/2010/main" val="2091020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772FEE58-7905-C16B-91E9-867D5F290EEF}"/>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BF9D4417-B7D0-2C45-5F0A-592E02E3A86A}"/>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25</a:t>
            </a:fld>
            <a:endParaRPr lang="fr-FR" noProof="0"/>
          </a:p>
        </p:txBody>
      </p:sp>
      <p:sp>
        <p:nvSpPr>
          <p:cNvPr id="3" name="Titre 2">
            <a:extLst>
              <a:ext uri="{FF2B5EF4-FFF2-40B4-BE49-F238E27FC236}">
                <a16:creationId xmlns:a16="http://schemas.microsoft.com/office/drawing/2014/main" id="{EE320F22-A6F9-9424-5498-087AA39B7939}"/>
              </a:ext>
            </a:extLst>
          </p:cNvPr>
          <p:cNvSpPr>
            <a:spLocks noGrp="1"/>
          </p:cNvSpPr>
          <p:nvPr>
            <p:ph type="title"/>
          </p:nvPr>
        </p:nvSpPr>
        <p:spPr>
          <a:xfrm>
            <a:off x="432000" y="432000"/>
            <a:ext cx="11328000" cy="432000"/>
          </a:xfrm>
        </p:spPr>
        <p:txBody>
          <a:bodyPr anchor="ctr">
            <a:normAutofit/>
          </a:bodyPr>
          <a:lstStyle/>
          <a:p>
            <a:r>
              <a:rPr lang="fr-FR" sz="3000"/>
              <a:t>Analyses en temps réel</a:t>
            </a:r>
          </a:p>
        </p:txBody>
      </p:sp>
      <p:sp>
        <p:nvSpPr>
          <p:cNvPr id="5" name="Espace réservé du contenu 4">
            <a:extLst>
              <a:ext uri="{FF2B5EF4-FFF2-40B4-BE49-F238E27FC236}">
                <a16:creationId xmlns:a16="http://schemas.microsoft.com/office/drawing/2014/main" id="{1A1E0A92-D69E-3F6B-F165-5EC64AD38B49}"/>
              </a:ext>
            </a:extLst>
          </p:cNvPr>
          <p:cNvSpPr>
            <a:spLocks noGrp="1"/>
          </p:cNvSpPr>
          <p:nvPr>
            <p:ph sz="half" idx="4294967295"/>
          </p:nvPr>
        </p:nvSpPr>
        <p:spPr>
          <a:xfrm>
            <a:off x="432000" y="1054500"/>
            <a:ext cx="11328000" cy="4352544"/>
          </a:xfrm>
        </p:spPr>
        <p:txBody>
          <a:bodyPr anchor="t">
            <a:normAutofit/>
          </a:bodyPr>
          <a:lstStyle/>
          <a:p>
            <a:pPr marL="0"/>
            <a:r>
              <a:rPr lang="en-US" kern="1200"/>
              <a:t>Rôle crucial dans l'écosystème Big Data</a:t>
            </a:r>
          </a:p>
          <a:p>
            <a:pPr marL="0" lvl="1"/>
            <a:r>
              <a:rPr lang="en-US" sz="1800" kern="1200"/>
              <a:t>Décisions instantanées basées sur des données actuelles</a:t>
            </a:r>
          </a:p>
          <a:p>
            <a:pPr marL="0" lvl="1"/>
            <a:r>
              <a:rPr lang="en-US" sz="1800" kern="1200"/>
              <a:t>Technologies de traitement de flux comme Apache Kafka et Apache Flink</a:t>
            </a:r>
          </a:p>
          <a:p>
            <a:pPr marL="0"/>
            <a:r>
              <a:rPr lang="en-US" kern="1200"/>
              <a:t>Applications dans le commerce électronique</a:t>
            </a:r>
          </a:p>
          <a:p>
            <a:pPr marL="0" lvl="1"/>
            <a:r>
              <a:rPr lang="en-US" sz="1800" kern="1200"/>
              <a:t>Surveillance des comportements des consommateurs</a:t>
            </a:r>
          </a:p>
          <a:p>
            <a:pPr marL="0" lvl="1"/>
            <a:r>
              <a:rPr lang="en-US" sz="1800" kern="1200"/>
              <a:t>Recommandations personnalisées instantanées</a:t>
            </a:r>
          </a:p>
          <a:p>
            <a:pPr marL="0"/>
            <a:r>
              <a:rPr lang="en-US" kern="1200"/>
              <a:t>Utilisation dans les services financiers</a:t>
            </a:r>
          </a:p>
          <a:p>
            <a:pPr marL="0" lvl="1"/>
            <a:r>
              <a:rPr lang="en-US" sz="1800" kern="1200"/>
              <a:t>Détection des fraudes et transactions suspectes</a:t>
            </a:r>
          </a:p>
          <a:p>
            <a:pPr marL="0" lvl="1"/>
            <a:r>
              <a:rPr lang="en-US" sz="1800" kern="1200"/>
              <a:t>Réduction des risques et pertes potentielles</a:t>
            </a:r>
          </a:p>
          <a:p>
            <a:pPr marL="0"/>
            <a:r>
              <a:rPr lang="en-US" kern="1200"/>
              <a:t>Essentiel dans le secteur de la santé</a:t>
            </a:r>
          </a:p>
          <a:p>
            <a:pPr marL="0"/>
            <a:r>
              <a:rPr lang="en-US" kern="1200"/>
              <a:t>Utilisation par les réseaux sociaux</a:t>
            </a:r>
          </a:p>
          <a:p>
            <a:pPr marL="0"/>
            <a:r>
              <a:rPr lang="en-US" kern="1200"/>
              <a:t>Bénéfices pour l'Internet des objets (IoT)</a:t>
            </a:r>
          </a:p>
        </p:txBody>
      </p:sp>
    </p:spTree>
    <p:extLst>
      <p:ext uri="{BB962C8B-B14F-4D97-AF65-F5344CB8AC3E}">
        <p14:creationId xmlns:p14="http://schemas.microsoft.com/office/powerpoint/2010/main" val="3647635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DC3B5E99-42A4-1BA2-E3D7-2E6B757312B8}"/>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C7A8F1E3-46FD-728A-A7E2-6DF1129280FF}"/>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26</a:t>
            </a:fld>
            <a:endParaRPr lang="fr-FR" noProof="0"/>
          </a:p>
        </p:txBody>
      </p:sp>
      <p:sp>
        <p:nvSpPr>
          <p:cNvPr id="3" name="Titre 2">
            <a:extLst>
              <a:ext uri="{FF2B5EF4-FFF2-40B4-BE49-F238E27FC236}">
                <a16:creationId xmlns:a16="http://schemas.microsoft.com/office/drawing/2014/main" id="{D98F80C3-2BE0-91DA-2212-6FA0BE257ED1}"/>
              </a:ext>
            </a:extLst>
          </p:cNvPr>
          <p:cNvSpPr>
            <a:spLocks noGrp="1"/>
          </p:cNvSpPr>
          <p:nvPr>
            <p:ph type="title"/>
          </p:nvPr>
        </p:nvSpPr>
        <p:spPr>
          <a:xfrm>
            <a:off x="432000" y="432000"/>
            <a:ext cx="11328000" cy="432000"/>
          </a:xfrm>
        </p:spPr>
        <p:txBody>
          <a:bodyPr anchor="ctr">
            <a:normAutofit/>
          </a:bodyPr>
          <a:lstStyle/>
          <a:p>
            <a:r>
              <a:rPr lang="fr-FR" sz="3000"/>
              <a:t>Data Warehousing</a:t>
            </a:r>
          </a:p>
        </p:txBody>
      </p:sp>
      <p:sp>
        <p:nvSpPr>
          <p:cNvPr id="5" name="Espace réservé du contenu 4">
            <a:extLst>
              <a:ext uri="{FF2B5EF4-FFF2-40B4-BE49-F238E27FC236}">
                <a16:creationId xmlns:a16="http://schemas.microsoft.com/office/drawing/2014/main" id="{1037DDCA-0DA7-438F-5BA3-9FB996469806}"/>
              </a:ext>
            </a:extLst>
          </p:cNvPr>
          <p:cNvSpPr>
            <a:spLocks noGrp="1"/>
          </p:cNvSpPr>
          <p:nvPr>
            <p:ph sz="half" idx="4294967295"/>
          </p:nvPr>
        </p:nvSpPr>
        <p:spPr>
          <a:xfrm>
            <a:off x="432000" y="1054500"/>
            <a:ext cx="11328000" cy="4352544"/>
          </a:xfrm>
        </p:spPr>
        <p:txBody>
          <a:bodyPr anchor="t">
            <a:normAutofit/>
          </a:bodyPr>
          <a:lstStyle/>
          <a:p>
            <a:pPr marL="0"/>
            <a:r>
              <a:rPr lang="en-US" kern="1200"/>
              <a:t>Intégration des données</a:t>
            </a:r>
          </a:p>
          <a:p>
            <a:pPr marL="0" lvl="1"/>
            <a:r>
              <a:rPr lang="en-US" sz="1800" kern="1200"/>
              <a:t>Collecte de données provenant de diverses sources</a:t>
            </a:r>
          </a:p>
          <a:p>
            <a:pPr marL="0" lvl="1"/>
            <a:r>
              <a:rPr lang="en-US" sz="1800" kern="1200"/>
              <a:t>Vue unifiée et cohérente des données de l'entreprise</a:t>
            </a:r>
          </a:p>
          <a:p>
            <a:pPr marL="0"/>
            <a:r>
              <a:rPr lang="en-US" kern="1200"/>
              <a:t>Qualité des données</a:t>
            </a:r>
          </a:p>
          <a:p>
            <a:pPr marL="0" lvl="1"/>
            <a:r>
              <a:rPr lang="en-US" sz="1800" kern="1200"/>
              <a:t>Nettoyage, transformation et validation des données</a:t>
            </a:r>
          </a:p>
          <a:p>
            <a:pPr marL="0"/>
            <a:r>
              <a:rPr lang="en-US" kern="1200"/>
              <a:t>Performance et rapidité</a:t>
            </a:r>
          </a:p>
          <a:p>
            <a:pPr marL="0"/>
            <a:r>
              <a:rPr lang="en-US" kern="1200"/>
              <a:t>Historique des données</a:t>
            </a:r>
          </a:p>
          <a:p>
            <a:pPr marL="0"/>
            <a:r>
              <a:rPr lang="en-US" kern="1200"/>
              <a:t>Accessibilité</a:t>
            </a:r>
          </a:p>
          <a:p>
            <a:pPr marL="0"/>
            <a:r>
              <a:rPr lang="en-US" kern="1200"/>
              <a:t>Prise de décision éclairée</a:t>
            </a:r>
          </a:p>
          <a:p>
            <a:pPr marL="0"/>
            <a:r>
              <a:rPr lang="en-US" kern="1200"/>
              <a:t>Amélioration de l'efficacité</a:t>
            </a:r>
          </a:p>
          <a:p>
            <a:pPr marL="0"/>
            <a:r>
              <a:rPr lang="en-US" kern="1200"/>
              <a:t>Support pour l'analyse avancée</a:t>
            </a:r>
          </a:p>
          <a:p>
            <a:pPr marL="0"/>
            <a:r>
              <a:rPr lang="en-US" kern="1200"/>
              <a:t>Conformité et reporting</a:t>
            </a:r>
          </a:p>
        </p:txBody>
      </p:sp>
    </p:spTree>
    <p:extLst>
      <p:ext uri="{BB962C8B-B14F-4D97-AF65-F5344CB8AC3E}">
        <p14:creationId xmlns:p14="http://schemas.microsoft.com/office/powerpoint/2010/main" val="3901721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EB87994D-E9A9-AF81-30A4-92FC9C8FBD13}"/>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2360434D-F197-96C4-103C-1359A51E9CFC}"/>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27</a:t>
            </a:fld>
            <a:endParaRPr lang="fr-FR" noProof="0"/>
          </a:p>
        </p:txBody>
      </p:sp>
      <p:sp>
        <p:nvSpPr>
          <p:cNvPr id="3" name="Titre 2">
            <a:extLst>
              <a:ext uri="{FF2B5EF4-FFF2-40B4-BE49-F238E27FC236}">
                <a16:creationId xmlns:a16="http://schemas.microsoft.com/office/drawing/2014/main" id="{A227B3FC-F311-FF85-77A0-34EC530EC492}"/>
              </a:ext>
            </a:extLst>
          </p:cNvPr>
          <p:cNvSpPr>
            <a:spLocks noGrp="1"/>
          </p:cNvSpPr>
          <p:nvPr>
            <p:ph type="title"/>
          </p:nvPr>
        </p:nvSpPr>
        <p:spPr>
          <a:xfrm>
            <a:off x="432000" y="432000"/>
            <a:ext cx="11328000" cy="432000"/>
          </a:xfrm>
        </p:spPr>
        <p:txBody>
          <a:bodyPr anchor="ctr">
            <a:normAutofit/>
          </a:bodyPr>
          <a:lstStyle/>
          <a:p>
            <a:r>
              <a:rPr lang="fr-FR" sz="3000"/>
              <a:t>Data lakes</a:t>
            </a:r>
          </a:p>
        </p:txBody>
      </p:sp>
      <p:sp>
        <p:nvSpPr>
          <p:cNvPr id="5" name="Espace réservé du contenu 4">
            <a:extLst>
              <a:ext uri="{FF2B5EF4-FFF2-40B4-BE49-F238E27FC236}">
                <a16:creationId xmlns:a16="http://schemas.microsoft.com/office/drawing/2014/main" id="{2EA762AE-591C-434A-48E3-E898668C5476}"/>
              </a:ext>
            </a:extLst>
          </p:cNvPr>
          <p:cNvSpPr>
            <a:spLocks noGrp="1"/>
          </p:cNvSpPr>
          <p:nvPr>
            <p:ph sz="half" idx="4294967295"/>
          </p:nvPr>
        </p:nvSpPr>
        <p:spPr>
          <a:xfrm>
            <a:off x="432000" y="1054500"/>
            <a:ext cx="11328000" cy="4352544"/>
          </a:xfrm>
        </p:spPr>
        <p:txBody>
          <a:bodyPr anchor="t">
            <a:normAutofit/>
          </a:bodyPr>
          <a:lstStyle/>
          <a:p>
            <a:pPr marL="0"/>
            <a:r>
              <a:rPr lang="en-US" kern="1200"/>
              <a:t>Différences entre data lakes et data warehouses</a:t>
            </a:r>
          </a:p>
          <a:p>
            <a:pPr marL="0" lvl="1"/>
            <a:r>
              <a:rPr lang="en-US" sz="1800" kern="1200"/>
              <a:t>Structure des données : data lakes acceptent toutes les formes de données</a:t>
            </a:r>
          </a:p>
          <a:p>
            <a:pPr marL="0" lvl="1"/>
            <a:r>
              <a:rPr lang="en-US" sz="1800" kern="1200"/>
              <a:t>Utilisation : data lakes pour analyses avancées, data warehouses pour BI et reporting</a:t>
            </a:r>
          </a:p>
          <a:p>
            <a:pPr marL="0" lvl="1"/>
            <a:r>
              <a:rPr lang="en-US" sz="1800" kern="1200"/>
              <a:t>Coût : stockage moins cher pour data lakes, mais coûts de gestion plus élevés</a:t>
            </a:r>
          </a:p>
          <a:p>
            <a:pPr marL="0" lvl="1"/>
            <a:r>
              <a:rPr lang="en-US" sz="1800" kern="1200"/>
              <a:t>Vitesse : data warehouses optimisés pour des requêtes rapides</a:t>
            </a:r>
          </a:p>
          <a:p>
            <a:pPr marL="0" lvl="1"/>
            <a:r>
              <a:rPr lang="en-US" sz="1800" kern="1200"/>
              <a:t>Scalabilité : data lakes offrent une scalabilité quasi illimitée</a:t>
            </a:r>
          </a:p>
          <a:p>
            <a:pPr marL="0"/>
            <a:r>
              <a:rPr lang="en-US" kern="1200"/>
              <a:t>Bénéfices des data lakes</a:t>
            </a:r>
          </a:p>
          <a:p>
            <a:pPr marL="0" lvl="1"/>
            <a:r>
              <a:rPr lang="en-US" sz="1800" kern="1200"/>
              <a:t>Stockage de grandes quantités de données hétérogènes</a:t>
            </a:r>
          </a:p>
          <a:p>
            <a:pPr marL="0" lvl="1"/>
            <a:r>
              <a:rPr lang="en-US" sz="1800" kern="1200"/>
              <a:t>Flexibilité pour analyses avancées et machine learning</a:t>
            </a:r>
          </a:p>
          <a:p>
            <a:pPr marL="0" lvl="1"/>
            <a:r>
              <a:rPr lang="en-US" sz="1800" kern="1200"/>
              <a:t>Scalabilité et coût moindre pour stockage des données non structurées</a:t>
            </a:r>
          </a:p>
          <a:p>
            <a:pPr marL="0"/>
            <a:r>
              <a:rPr lang="en-US" kern="1200"/>
              <a:t>Challenges des data lakes</a:t>
            </a:r>
          </a:p>
          <a:p>
            <a:pPr marL="0" lvl="1"/>
            <a:r>
              <a:rPr lang="en-US" sz="1800" kern="1200"/>
              <a:t>Qualité des données : gestion complexe</a:t>
            </a:r>
          </a:p>
        </p:txBody>
      </p:sp>
    </p:spTree>
    <p:extLst>
      <p:ext uri="{BB962C8B-B14F-4D97-AF65-F5344CB8AC3E}">
        <p14:creationId xmlns:p14="http://schemas.microsoft.com/office/powerpoint/2010/main" val="2364702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7EF54269-A29B-E3E7-5672-AEA40DF673D4}"/>
              </a:ext>
            </a:extLst>
          </p:cNvPr>
          <p:cNvSpPr>
            <a:spLocks noGrp="1"/>
          </p:cNvSpPr>
          <p:nvPr>
            <p:ph type="pic" sz="quarter" idx="14"/>
          </p:nvPr>
        </p:nvSpPr>
        <p:spPr>
          <a:xfrm>
            <a:off x="6096000" y="-1"/>
            <a:ext cx="6096000" cy="6371351"/>
          </a:xfrm>
        </p:spPr>
        <p:txBody>
          <a:bodyPr/>
          <a:lstStyle/>
          <a:p>
            <a:endParaRPr lang="fr-FR"/>
          </a:p>
        </p:txBody>
      </p:sp>
      <p:sp>
        <p:nvSpPr>
          <p:cNvPr id="3" name="Titre 2">
            <a:extLst>
              <a:ext uri="{FF2B5EF4-FFF2-40B4-BE49-F238E27FC236}">
                <a16:creationId xmlns:a16="http://schemas.microsoft.com/office/drawing/2014/main" id="{367B8556-01A4-904B-A567-D42AAAABD689}"/>
              </a:ext>
            </a:extLst>
          </p:cNvPr>
          <p:cNvSpPr>
            <a:spLocks noGrp="1"/>
          </p:cNvSpPr>
          <p:nvPr>
            <p:ph type="title"/>
          </p:nvPr>
        </p:nvSpPr>
        <p:spPr>
          <a:xfrm>
            <a:off x="7111800" y="3802899"/>
            <a:ext cx="4648200" cy="985000"/>
          </a:xfrm>
        </p:spPr>
        <p:txBody>
          <a:bodyPr anchor="ctr">
            <a:normAutofit/>
          </a:bodyPr>
          <a:lstStyle/>
          <a:p>
            <a:r>
              <a:rPr lang="fr-FR" sz="3300"/>
              <a:t>Machine Learning et Big Data</a:t>
            </a:r>
          </a:p>
        </p:txBody>
      </p:sp>
      <p:sp>
        <p:nvSpPr>
          <p:cNvPr id="14" name="Text Placeholder 3">
            <a:extLst>
              <a:ext uri="{FF2B5EF4-FFF2-40B4-BE49-F238E27FC236}">
                <a16:creationId xmlns:a16="http://schemas.microsoft.com/office/drawing/2014/main" id="{2FFFEA50-3771-143B-BDD8-329FB8B3E9F2}"/>
              </a:ext>
            </a:extLst>
          </p:cNvPr>
          <p:cNvSpPr>
            <a:spLocks noGrp="1"/>
          </p:cNvSpPr>
          <p:nvPr>
            <p:ph type="body" sz="quarter" idx="32"/>
          </p:nvPr>
        </p:nvSpPr>
        <p:spPr>
          <a:xfrm>
            <a:off x="7111800" y="4787900"/>
            <a:ext cx="4648200" cy="1162800"/>
          </a:xfrm>
        </p:spPr>
        <p:txBody>
          <a:bodyPr/>
          <a:lstStyle/>
          <a:p>
            <a:endParaRPr lang="en-US"/>
          </a:p>
        </p:txBody>
      </p:sp>
      <p:sp>
        <p:nvSpPr>
          <p:cNvPr id="5" name="Espace réservé du contenu 4">
            <a:extLst>
              <a:ext uri="{FF2B5EF4-FFF2-40B4-BE49-F238E27FC236}">
                <a16:creationId xmlns:a16="http://schemas.microsoft.com/office/drawing/2014/main" id="{FD12C553-0D2D-F421-73E3-F61A074CD41F}"/>
              </a:ext>
            </a:extLst>
          </p:cNvPr>
          <p:cNvSpPr>
            <a:spLocks noGrp="1"/>
          </p:cNvSpPr>
          <p:nvPr>
            <p:ph sz="half" idx="1"/>
          </p:nvPr>
        </p:nvSpPr>
        <p:spPr>
          <a:xfrm>
            <a:off x="432000" y="2668686"/>
            <a:ext cx="5472000" cy="2999426"/>
          </a:xfrm>
        </p:spPr>
        <p:txBody>
          <a:bodyPr anchor="b">
            <a:normAutofit/>
          </a:bodyPr>
          <a:lstStyle/>
          <a:p>
            <a:r>
              <a:rPr lang="fr-FR" sz="1500"/>
              <a:t>Rôle croissant du machine learning dans le Big Data</a:t>
            </a:r>
          </a:p>
          <a:p>
            <a:pPr lvl="1"/>
            <a:r>
              <a:rPr lang="fr-FR" sz="1500"/>
              <a:t>Utilisation d'algorithmes avancés</a:t>
            </a:r>
          </a:p>
          <a:p>
            <a:pPr lvl="1"/>
            <a:r>
              <a:rPr lang="fr-FR" sz="1500"/>
              <a:t>Techniques de traitement massif des données</a:t>
            </a:r>
          </a:p>
          <a:p>
            <a:r>
              <a:rPr lang="fr-FR" sz="1500"/>
              <a:t>Analyse de volumes énormes de données</a:t>
            </a:r>
          </a:p>
          <a:p>
            <a:pPr lvl="1"/>
            <a:r>
              <a:rPr lang="fr-FR" sz="1500"/>
              <a:t>Découverte de tendances</a:t>
            </a:r>
          </a:p>
          <a:p>
            <a:pPr lvl="1"/>
            <a:r>
              <a:rPr lang="fr-FR" sz="1500"/>
              <a:t>Prédiction de résultats</a:t>
            </a:r>
          </a:p>
          <a:p>
            <a:pPr lvl="1"/>
            <a:r>
              <a:rPr lang="fr-FR" sz="1500"/>
              <a:t>Automatisation de processus complexes</a:t>
            </a:r>
          </a:p>
          <a:p>
            <a:r>
              <a:rPr lang="fr-FR" sz="1500"/>
              <a:t>Intégration avec des plateformes comme Apache Spark MLlib et TensorFlow</a:t>
            </a:r>
          </a:p>
          <a:p>
            <a:pPr lvl="1"/>
            <a:r>
              <a:rPr lang="fr-FR" sz="1500"/>
              <a:t>Permet aux entreprises de tirer parti des capacités de machine learning à grande échelle</a:t>
            </a:r>
          </a:p>
        </p:txBody>
      </p:sp>
      <p:sp>
        <p:nvSpPr>
          <p:cNvPr id="6" name="Espace réservé du pied de page 5">
            <a:extLst>
              <a:ext uri="{FF2B5EF4-FFF2-40B4-BE49-F238E27FC236}">
                <a16:creationId xmlns:a16="http://schemas.microsoft.com/office/drawing/2014/main" id="{7A0022E2-EE39-6666-6664-7230F9136D8D}"/>
              </a:ext>
            </a:extLst>
          </p:cNvPr>
          <p:cNvSpPr>
            <a:spLocks noGrp="1"/>
          </p:cNvSpPr>
          <p:nvPr>
            <p:ph type="ftr" sz="quarter" idx="13"/>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D5A09E72-F1B0-5A22-FF04-D40E651FA12A}"/>
              </a:ext>
            </a:extLst>
          </p:cNvPr>
          <p:cNvSpPr>
            <a:spLocks noGrp="1"/>
          </p:cNvSpPr>
          <p:nvPr>
            <p:ph type="sldNum" sz="quarter" idx="3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28</a:t>
            </a:fld>
            <a:endParaRPr lang="fr-FR" noProof="0"/>
          </a:p>
        </p:txBody>
      </p:sp>
    </p:spTree>
    <p:extLst>
      <p:ext uri="{BB962C8B-B14F-4D97-AF65-F5344CB8AC3E}">
        <p14:creationId xmlns:p14="http://schemas.microsoft.com/office/powerpoint/2010/main" val="1058550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42CF4FE-507A-D732-1247-FF42B733B3DC}"/>
              </a:ext>
            </a:extLst>
          </p:cNvPr>
          <p:cNvSpPr>
            <a:spLocks noGrp="1"/>
          </p:cNvSpPr>
          <p:nvPr>
            <p:ph type="ftr" sz="quarter" idx="12"/>
          </p:nvPr>
        </p:nvSpPr>
        <p:spPr>
          <a:xfrm>
            <a:off x="432000" y="6439820"/>
            <a:ext cx="5664000" cy="295062"/>
          </a:xfrm>
        </p:spPr>
        <p:txBody>
          <a:bodyPr anchor="ctr">
            <a:normAutofit/>
          </a:bodyPr>
          <a:lstStyle/>
          <a:p>
            <a:pPr rtl="0">
              <a:spcAft>
                <a:spcPts val="600"/>
              </a:spcAft>
            </a:pPr>
            <a:r>
              <a:rPr lang="fr-FR" noProof="0"/>
              <a:t>Ajouter un pied de page</a:t>
            </a:r>
          </a:p>
        </p:txBody>
      </p:sp>
      <p:sp>
        <p:nvSpPr>
          <p:cNvPr id="7" name="Espace réservé du numéro de diapositive 6">
            <a:extLst>
              <a:ext uri="{FF2B5EF4-FFF2-40B4-BE49-F238E27FC236}">
                <a16:creationId xmlns:a16="http://schemas.microsoft.com/office/drawing/2014/main" id="{6BF3CE06-217A-12DD-BA39-536F0A2074E3}"/>
              </a:ext>
            </a:extLst>
          </p:cNvPr>
          <p:cNvSpPr>
            <a:spLocks noGrp="1"/>
          </p:cNvSpPr>
          <p:nvPr>
            <p:ph type="sldNum" sz="quarter" idx="13"/>
          </p:nvPr>
        </p:nvSpPr>
        <p:spPr>
          <a:xfrm>
            <a:off x="11760000" y="6371351"/>
            <a:ext cx="432000" cy="432000"/>
          </a:xfrm>
        </p:spPr>
        <p:txBody>
          <a:bodyPr anchor="ctr">
            <a:normAutofit/>
          </a:bodyPr>
          <a:lstStyle/>
          <a:p>
            <a:pPr rtl="0">
              <a:spcAft>
                <a:spcPts val="600"/>
              </a:spcAft>
            </a:pPr>
            <a:fld id="{19B51A1E-902D-48AF-9020-955120F399B6}" type="slidenum">
              <a:rPr lang="fr-FR" noProof="0" smtClean="0"/>
              <a:pPr rtl="0">
                <a:spcAft>
                  <a:spcPts val="600"/>
                </a:spcAft>
              </a:pPr>
              <a:t>29</a:t>
            </a:fld>
            <a:endParaRPr lang="fr-FR" noProof="0"/>
          </a:p>
        </p:txBody>
      </p:sp>
      <p:sp>
        <p:nvSpPr>
          <p:cNvPr id="3" name="Titre 2">
            <a:extLst>
              <a:ext uri="{FF2B5EF4-FFF2-40B4-BE49-F238E27FC236}">
                <a16:creationId xmlns:a16="http://schemas.microsoft.com/office/drawing/2014/main" id="{0631A43D-89EB-C954-819D-70DB0D9A678D}"/>
              </a:ext>
            </a:extLst>
          </p:cNvPr>
          <p:cNvSpPr>
            <a:spLocks noGrp="1"/>
          </p:cNvSpPr>
          <p:nvPr>
            <p:ph type="title"/>
          </p:nvPr>
        </p:nvSpPr>
        <p:spPr>
          <a:xfrm>
            <a:off x="432000" y="432000"/>
            <a:ext cx="11328000" cy="432000"/>
          </a:xfrm>
        </p:spPr>
        <p:txBody>
          <a:bodyPr anchor="ctr">
            <a:normAutofit/>
          </a:bodyPr>
          <a:lstStyle/>
          <a:p>
            <a:r>
              <a:rPr lang="fr-FR" sz="3000"/>
              <a:t>Cas d'utilisation des bases de données Big Data</a:t>
            </a:r>
          </a:p>
        </p:txBody>
      </p:sp>
      <p:sp>
        <p:nvSpPr>
          <p:cNvPr id="5" name="Espace réservé du contenu 4">
            <a:extLst>
              <a:ext uri="{FF2B5EF4-FFF2-40B4-BE49-F238E27FC236}">
                <a16:creationId xmlns:a16="http://schemas.microsoft.com/office/drawing/2014/main" id="{063E5E2F-EA96-F6A4-D397-CB4A9AC6A89C}"/>
              </a:ext>
            </a:extLst>
          </p:cNvPr>
          <p:cNvSpPr>
            <a:spLocks noGrp="1"/>
          </p:cNvSpPr>
          <p:nvPr>
            <p:ph sz="half" idx="4294967295"/>
          </p:nvPr>
        </p:nvSpPr>
        <p:spPr>
          <a:xfrm>
            <a:off x="432000" y="1054500"/>
            <a:ext cx="11328000" cy="4352544"/>
          </a:xfrm>
        </p:spPr>
        <p:txBody>
          <a:bodyPr anchor="t">
            <a:normAutofit/>
          </a:bodyPr>
          <a:lstStyle/>
          <a:p>
            <a:pPr marL="0"/>
            <a:r>
              <a:rPr lang="en-US" kern="1200"/>
              <a:t>Secteurs utilisant les bases de données Big Data</a:t>
            </a:r>
          </a:p>
          <a:p>
            <a:pPr marL="0" lvl="1"/>
            <a:r>
              <a:rPr lang="en-US" sz="1800" kern="1200"/>
              <a:t>Finance</a:t>
            </a:r>
          </a:p>
          <a:p>
            <a:pPr marL="0" lvl="1"/>
            <a:r>
              <a:rPr lang="en-US" sz="1800" kern="1200"/>
              <a:t>Santé</a:t>
            </a:r>
          </a:p>
          <a:p>
            <a:pPr marL="0" lvl="1"/>
            <a:r>
              <a:rPr lang="en-US" sz="1800" kern="1200"/>
              <a:t>Commerce de détail</a:t>
            </a:r>
          </a:p>
          <a:p>
            <a:pPr marL="0" lvl="1"/>
            <a:r>
              <a:rPr lang="en-US" sz="1800" kern="1200"/>
              <a:t>Télécommunications</a:t>
            </a:r>
          </a:p>
          <a:p>
            <a:pPr marL="0"/>
            <a:r>
              <a:rPr lang="en-US" kern="1200"/>
              <a:t>Gestion de volumes massifs de données transactionnelles</a:t>
            </a:r>
          </a:p>
          <a:p>
            <a:pPr marL="0" lvl="1"/>
            <a:r>
              <a:rPr lang="en-US" sz="1800" kern="1200"/>
              <a:t>Analyse rapide et efficace</a:t>
            </a:r>
          </a:p>
          <a:p>
            <a:pPr marL="0"/>
            <a:r>
              <a:rPr lang="en-US" kern="1200"/>
              <a:t>Analyse des données client</a:t>
            </a:r>
          </a:p>
          <a:p>
            <a:pPr marL="0" lvl="1"/>
            <a:r>
              <a:rPr lang="en-US" sz="1800" kern="1200"/>
              <a:t>Recommandations personnalisées</a:t>
            </a:r>
          </a:p>
          <a:p>
            <a:pPr marL="0"/>
            <a:r>
              <a:rPr lang="en-US" kern="1200"/>
              <a:t>Détection des fraudes en temps réel</a:t>
            </a:r>
          </a:p>
          <a:p>
            <a:pPr marL="0" lvl="1"/>
            <a:r>
              <a:rPr lang="en-US" sz="1800" kern="1200"/>
              <a:t>Surveillance continue</a:t>
            </a:r>
          </a:p>
          <a:p>
            <a:pPr marL="0"/>
            <a:r>
              <a:rPr lang="en-US" kern="1200"/>
              <a:t>Maintenance prédictive des systèmes complexes</a:t>
            </a:r>
          </a:p>
        </p:txBody>
      </p:sp>
    </p:spTree>
    <p:extLst>
      <p:ext uri="{BB962C8B-B14F-4D97-AF65-F5344CB8AC3E}">
        <p14:creationId xmlns:p14="http://schemas.microsoft.com/office/powerpoint/2010/main" val="1838319548"/>
      </p:ext>
    </p:extLst>
  </p:cSld>
  <p:clrMapOvr>
    <a:masterClrMapping/>
  </p:clrMapOvr>
</p:sld>
</file>

<file path=ppt/theme/theme1.xml><?xml version="1.0" encoding="utf-8"?>
<a:theme xmlns:a="http://schemas.openxmlformats.org/drawingml/2006/main" name="Personnalisé">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5838_TF16411250.potx" id="{675E8371-EC70-4345-8B64-A71003B56298}" vid="{0F92AA19-00D6-4C71-B13F-219D7994A0B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64A4C9D-F801-4923-BC6D-E0006F5123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2218FC-8412-44B9-9E82-D51F1F531141}">
  <ds:schemaRefs>
    <ds:schemaRef ds:uri="http://purl.org/dc/dcmitype/"/>
    <ds:schemaRef ds:uri="6dc4bcd6-49db-4c07-9060-8acfc67cef9f"/>
    <ds:schemaRef ds:uri="http://schemas.microsoft.com/office/2006/metadata/properties"/>
    <ds:schemaRef ds:uri="http://schemas.microsoft.com/office/2006/documentManagement/types"/>
    <ds:schemaRef ds:uri="http://schemas.microsoft.com/sharepoint/v3"/>
    <ds:schemaRef ds:uri="http://www.w3.org/XML/1998/namespace"/>
    <ds:schemaRef ds:uri="http://schemas.microsoft.com/office/infopath/2007/PartnerControls"/>
    <ds:schemaRef ds:uri="http://purl.org/dc/elements/1.1/"/>
    <ds:schemaRef ds:uri="http://schemas.openxmlformats.org/package/2006/metadata/core-properties"/>
    <ds:schemaRef ds:uri="fb0879af-3eba-417a-a55a-ffe6dcd6ca77"/>
    <ds:schemaRef ds:uri="http://purl.org/dc/terms/"/>
  </ds:schemaRefs>
</ds:datastoreItem>
</file>

<file path=docProps/app.xml><?xml version="1.0" encoding="utf-8"?>
<Properties xmlns="http://schemas.openxmlformats.org/officeDocument/2006/extended-properties" xmlns:vt="http://schemas.openxmlformats.org/officeDocument/2006/docPropsVTypes">
  <Template>{2F8685C9-1CEA-44A5-8AB2-92D7AE2DB7C7}tf16411250_win32</Template>
  <TotalTime>714</TotalTime>
  <Words>8248</Words>
  <Application>Microsoft Office PowerPoint</Application>
  <PresentationFormat>Grand écran</PresentationFormat>
  <Paragraphs>441</Paragraphs>
  <Slides>29</Slides>
  <Notes>25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29</vt:i4>
      </vt:variant>
    </vt:vector>
  </HeadingPairs>
  <TitlesOfParts>
    <vt:vector size="36" baseType="lpstr">
      <vt:lpstr>Arial</vt:lpstr>
      <vt:lpstr>Calibri</vt:lpstr>
      <vt:lpstr>Candara</vt:lpstr>
      <vt:lpstr>Corbel</vt:lpstr>
      <vt:lpstr>Times New Roman</vt:lpstr>
      <vt:lpstr>Wingdings</vt:lpstr>
      <vt:lpstr>Personnalisé</vt:lpstr>
      <vt:lpstr>Bases de données Big Data</vt:lpstr>
      <vt:lpstr>Ordre du jour</vt:lpstr>
      <vt:lpstr>Introduction</vt:lpstr>
      <vt:lpstr>La frontière entre Data et BigData </vt:lpstr>
      <vt:lpstr>Les chiffres du Big Data </vt:lpstr>
      <vt:lpstr>Présentation PowerPoint</vt:lpstr>
      <vt:lpstr>Données structurées</vt:lpstr>
      <vt:lpstr>Données non structurées</vt:lpstr>
      <vt:lpstr>Les 3 V du Big Data</vt:lpstr>
      <vt:lpstr>Autres caractéristiques du Big Data</vt:lpstr>
      <vt:lpstr>Importance des bases de données dans le Big Data</vt:lpstr>
      <vt:lpstr>Bases de données relationnelles</vt:lpstr>
      <vt:lpstr>Bases de données NoSQL</vt:lpstr>
      <vt:lpstr>7 différences entre BDD relationnelles et NoSQL</vt:lpstr>
      <vt:lpstr>Bases de données NewSQL</vt:lpstr>
      <vt:lpstr>Bases de données en mémoire</vt:lpstr>
      <vt:lpstr>Apache Hadoop</vt:lpstr>
      <vt:lpstr>Apache Spark</vt:lpstr>
      <vt:lpstr>HDFS et MapReduce</vt:lpstr>
      <vt:lpstr>Google BigQuery</vt:lpstr>
      <vt:lpstr>Modèles de données</vt:lpstr>
      <vt:lpstr>Partitionnement et sharding</vt:lpstr>
      <vt:lpstr>Réplicabilité et tolérance aux pannes</vt:lpstr>
      <vt:lpstr>ETL (Extract, Transform, Load)</vt:lpstr>
      <vt:lpstr>Analyses en temps réel</vt:lpstr>
      <vt:lpstr>Data Warehousing</vt:lpstr>
      <vt:lpstr>Data lakes</vt:lpstr>
      <vt:lpstr>Machine Learning et Big Data</vt:lpstr>
      <vt:lpstr>Cas d'utilisation des bases de données Big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BOULANGER, Thierry</dc:creator>
  <cp:lastModifiedBy>Thierry Boulanger</cp:lastModifiedBy>
  <cp:revision>1</cp:revision>
  <dcterms:created xsi:type="dcterms:W3CDTF">2024-11-02T10:54:42Z</dcterms:created>
  <dcterms:modified xsi:type="dcterms:W3CDTF">2024-11-04T08:09:22Z</dcterms:modified>
</cp:coreProperties>
</file>